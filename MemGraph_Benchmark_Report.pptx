
<file path=[Content_Types].xml><?xml version="1.0" encoding="utf-8"?>
<Types xmlns="http://schemas.openxmlformats.org/package/2006/content-types">
  <Default Extension="xml" ContentType="application/xml"/>
  <Default Extension="xlsx" ContentType="application/vnd.openxmlformats-officedocument.spreadsheetml.sheet"/>
  <Default Extension="jpeg" ContentType="image/jpeg"/>
  <Default Extension="wmf" ContentType="image/x-wmf"/>
  <Default Extension="png" ContentType="image/png"/>
  <Default Extension="rels" ContentType="application/vnd.openxmlformats-package.relationships+xml"/>
  <Default Extension="bin" ContentType="application/vnd.openxmlformats-officedocument.oleObject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notesSlides/notesSlide7.xml" ContentType="application/vnd.openxmlformats-officedocument.presentationml.notes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s/slide3.xml" ContentType="application/vnd.openxmlformats-officedocument.presentationml.slide+xml"/>
  <Override PartName="/ppt/charts/chart1.xml" ContentType="application/vnd.openxmlformats-officedocument.drawingml.char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5143500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 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roundedCorners val="1"/>
  <mc:AlternateContent>
    <mc:Choice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Graph</c:v>
                </c:pt>
              </c:strCache>
            </c:strRef>
          </c:tx>
          <c:spPr bwMode="auto">
            <a:prstGeom prst="rect">
              <a:avLst/>
            </a:prstGeom>
            <a:solidFill>
              <a:srgbClr val="64748B"/>
            </a:solidFill>
            <a:effectLst/>
          </c:spPr>
          <c:invertIfNegative val="0"/>
          <c:dLbls>
            <c:numFmt formatCode="#,##0" sourceLinked="0"/>
            <c:showBubbleSize val="0"/>
            <c:showCatName val="0"/>
            <c:showLeaderLines val="0"/>
            <c:showLegendKey val="0"/>
            <c:showPercent val="0"/>
            <c:showSerName val="0"/>
            <c:showVal val="1"/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/>
              </a:p>
            </c:txPr>
          </c:dLbls>
          <c:cat>
            <c:multiLvlStrRef>
              <c:f>Sheet1!$A$2:$A$3</c:f>
              <c:multiLvlStrCache>
                <c:ptCount val="2"/>
                <c:lvl>
                  <c:pt idx="0">
                    <c:v>P@3</c:v>
                  </c:pt>
                  <c:pt idx="1">
                    <c:v>MRR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0.38</c:v>
                </c:pt>
                <c:pt idx="1">
                  <c:v>0.55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Vector</c:v>
                </c:pt>
              </c:strCache>
            </c:strRef>
          </c:tx>
          <c:spPr bwMode="auto">
            <a:prstGeom prst="rect">
              <a:avLst/>
            </a:prstGeom>
            <a:solidFill>
              <a:srgbClr val="14B8A6"/>
            </a:solidFill>
            <a:effectLst/>
          </c:spPr>
          <c:invertIfNegative val="0"/>
          <c:dLbls>
            <c:numFmt formatCode="#,##0" sourceLinked="0"/>
            <c:showBubbleSize val="0"/>
            <c:showCatName val="0"/>
            <c:showLeaderLines val="0"/>
            <c:showLegendKey val="0"/>
            <c:showPercent val="0"/>
            <c:showSerName val="0"/>
            <c:showVal val="1"/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/>
              </a:p>
            </c:txPr>
          </c:dLbls>
          <c:cat>
            <c:multiLvlStrRef>
              <c:f>Sheet1!$A$2:$A$3</c:f>
              <c:multiLvlStrCache>
                <c:ptCount val="2"/>
                <c:lvl>
                  <c:pt idx="0">
                    <c:v>P@3</c:v>
                  </c:pt>
                  <c:pt idx="1">
                    <c:v>MRR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0.32</c:v>
                </c:pt>
                <c:pt idx="1">
                  <c:v>0.79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Hybrid</c:v>
                </c:pt>
              </c:strCache>
            </c:strRef>
          </c:tx>
          <c:spPr bwMode="auto">
            <a:prstGeom prst="rect">
              <a:avLst/>
            </a:prstGeom>
            <a:solidFill>
              <a:srgbClr val="1A1B4B"/>
            </a:solidFill>
            <a:effectLst/>
          </c:spPr>
          <c:invertIfNegative val="0"/>
          <c:dLbls>
            <c:numFmt formatCode="#,##0" sourceLinked="0"/>
            <c:showBubbleSize val="0"/>
            <c:showCatName val="0"/>
            <c:showLeaderLines val="0"/>
            <c:showLegendKey val="0"/>
            <c:showPercent val="0"/>
            <c:showSerName val="0"/>
            <c:showVal val="1"/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/>
              </a:p>
            </c:txPr>
          </c:dLbls>
          <c:cat>
            <c:multiLvlStrRef>
              <c:f>Sheet1!$A$2:$A$3</c:f>
              <c:multiLvlStrCache>
                <c:ptCount val="2"/>
                <c:lvl>
                  <c:pt idx="0">
                    <c:v>P@3</c:v>
                  </c:pt>
                  <c:pt idx="1">
                    <c:v>MRR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0.4</c:v>
                </c:pt>
                <c:pt idx="1">
                  <c:v>0.7</c:v>
                </c:pt>
              </c:numCache>
            </c:numRef>
          </c:val>
        </c:ser>
        <c:dLbls>
          <c:numFmt formatCode="#,##0" sourceLinked="0"/>
          <c:showBubbleSize val="0"/>
          <c:showCatName val="0"/>
          <c:showLeaderLines val="0"/>
          <c:showLegendKey val="0"/>
          <c:showPercent val="0"/>
          <c:showSerName val="0"/>
          <c:showVal val="1"/>
          <c:txPr>
            <a:bodyPr/>
            <a:lstStyle/>
            <a:p>
              <a:pPr>
                <a:defRPr sz="1000" b="0" i="0" u="none" strike="noStrike">
                  <a:solidFill>
                    <a:srgbClr val="1E293B"/>
                  </a:solidFill>
                  <a:latin typeface="Arial"/>
                </a:defRPr>
              </a:pPr>
              <a:endParaRPr/>
            </a:p>
          </c:txPr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 bwMode="auto">
            <a:prstGeom prst="rect">
              <a:avLst/>
            </a:prstGeom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 bwMode="auto">
        <a:prstGeom prst="rect">
          <a:avLst/>
        </a:prstGeom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0"/>
  </c:chart>
  <c:spPr bwMode="auto">
    <a:xfrm rot="0">
      <a:off x="457200" y="1280160"/>
      <a:ext cx="4114800" cy="2286000"/>
    </a:xfrm>
    <a:prstGeom prst="rect">
      <a:avLst/>
    </a:prstGeom>
    <a:solidFill>
      <a:srgbClr val="FFFFFF"/>
    </a:solidFill>
    <a:ln>
      <a:noFill/>
    </a:ln>
    <a:effectLst/>
  </c:spPr>
  <c:externalData r:id="rId1">
    <c:autoUpdate val="1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roundedCorners val="1"/>
  <mc:AlternateContent>
    <mc:Choice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Vector RAG</c:v>
                </c:pt>
              </c:strCache>
            </c:strRef>
          </c:tx>
          <c:spPr bwMode="auto">
            <a:prstGeom prst="rect">
              <a:avLst/>
            </a:prstGeom>
            <a:solidFill>
              <a:srgbClr val="14B8A6"/>
            </a:solidFill>
            <a:effectLst/>
          </c:spPr>
          <c:invertIfNegative val="0"/>
          <c:dLbls>
            <c:numFmt formatCode="#,##0" sourceLinked="0"/>
            <c:showBubbleSize val="0"/>
            <c:showCatName val="0"/>
            <c:showLeaderLines val="0"/>
            <c:showLegendKey val="0"/>
            <c:showPercent val="0"/>
            <c:showSerName val="0"/>
            <c:showVal val="1"/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/>
              </a:p>
            </c:txPr>
          </c:dLbls>
          <c:cat>
            <c:multiLvlStrRef>
              <c:f>Sheet1!$A$2:$A$5</c:f>
              <c:multiLvlStrCache>
                <c:ptCount val="4"/>
                <c:lvl>
                  <c:pt idx="0">
                    <c:v>Faithfulness</c:v>
                  </c:pt>
                  <c:pt idx="1">
                    <c:v>Relevancy</c:v>
                  </c:pt>
                  <c:pt idx="2">
                    <c:v>Ctx Precision</c:v>
                  </c:pt>
                  <c:pt idx="3">
                    <c:v>Ctx Recall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0.96</c:v>
                </c:pt>
                <c:pt idx="1">
                  <c:v>0.89</c:v>
                </c:pt>
                <c:pt idx="2">
                  <c:v>0.78</c:v>
                </c:pt>
                <c:pt idx="3">
                  <c:v>0.78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MemGraph</c:v>
                </c:pt>
              </c:strCache>
            </c:strRef>
          </c:tx>
          <c:spPr bwMode="auto">
            <a:prstGeom prst="rect">
              <a:avLst/>
            </a:prstGeom>
            <a:solidFill>
              <a:srgbClr val="1A1B4B"/>
            </a:solidFill>
            <a:effectLst/>
          </c:spPr>
          <c:invertIfNegative val="0"/>
          <c:dLbls>
            <c:numFmt formatCode="#,##0" sourceLinked="0"/>
            <c:showBubbleSize val="0"/>
            <c:showCatName val="0"/>
            <c:showLeaderLines val="0"/>
            <c:showLegendKey val="0"/>
            <c:showPercent val="0"/>
            <c:showSerName val="0"/>
            <c:showVal val="1"/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/>
              </a:p>
            </c:txPr>
          </c:dLbls>
          <c:cat>
            <c:multiLvlStrRef>
              <c:f>Sheet1!$A$2:$A$5</c:f>
              <c:multiLvlStrCache>
                <c:ptCount val="4"/>
                <c:lvl>
                  <c:pt idx="0">
                    <c:v>Faithfulness</c:v>
                  </c:pt>
                  <c:pt idx="1">
                    <c:v>Relevancy</c:v>
                  </c:pt>
                  <c:pt idx="2">
                    <c:v>Ctx Precision</c:v>
                  </c:pt>
                  <c:pt idx="3">
                    <c:v>Ctx Recall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0.78</c:v>
                </c:pt>
                <c:pt idx="1">
                  <c:v>0.78</c:v>
                </c:pt>
                <c:pt idx="2">
                  <c:v>0.6</c:v>
                </c:pt>
                <c:pt idx="3">
                  <c:v>0.83</c:v>
                </c:pt>
              </c:numCache>
            </c:numRef>
          </c:val>
        </c:ser>
        <c:dLbls>
          <c:numFmt formatCode="#,##0" sourceLinked="0"/>
          <c:showBubbleSize val="0"/>
          <c:showCatName val="0"/>
          <c:showLeaderLines val="0"/>
          <c:showLegendKey val="0"/>
          <c:showPercent val="0"/>
          <c:showSerName val="0"/>
          <c:showVal val="1"/>
          <c:txPr>
            <a:bodyPr/>
            <a:lstStyle/>
            <a:p>
              <a:pPr>
                <a:defRPr sz="900" b="0" i="0" u="none" strike="noStrike">
                  <a:solidFill>
                    <a:srgbClr val="1E293B"/>
                  </a:solidFill>
                  <a:latin typeface="Arial"/>
                </a:defRPr>
              </a:pPr>
              <a:endParaRPr/>
            </a:p>
          </c:txPr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 bwMode="auto">
            <a:prstGeom prst="rect">
              <a:avLst/>
            </a:prstGeom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 bwMode="auto">
        <a:prstGeom prst="rect">
          <a:avLst/>
        </a:prstGeom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0"/>
  </c:chart>
  <c:spPr bwMode="auto">
    <a:xfrm rot="0">
      <a:off x="274320" y="1280160"/>
      <a:ext cx="5029200" cy="2560320"/>
    </a:xfrm>
    <a:prstGeom prst="rect">
      <a:avLst/>
    </a:prstGeom>
    <a:solidFill>
      <a:srgbClr val="FFFFFF"/>
    </a:solidFill>
    <a:ln>
      <a:noFill/>
    </a:ln>
    <a:effectLst/>
  </c:spPr>
  <c:externalData r:id="rId1">
    <c:autoUpdate val="1"/>
  </c:externalData>
</c:chartSpace>
</file>

<file path=ppt/embeddings/_rels/Microsoft_Excel_Worksheet1.xlsx.rels><?xml version="1.0" encoding="UTF-8" standalone="yes"?><Relationships xmlns="http://schemas.openxmlformats.org/package/2006/relationships"></Relationships>
</file>

<file path=ppt/embeddings/_rels/Microsoft_Excel_Worksheet2.xlsx.rels><?xml version="1.0" encoding="UTF-8" standalone="yes"?><Relationships xmlns="http://schemas.openxmlformats.org/package/2006/relationships"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04573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231592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937467536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72916598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18010021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50246098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4955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31013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362174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11425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623191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806916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14996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3606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423731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49593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628087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895710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09574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7060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98849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06928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7996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857268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2151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10078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184688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chart" Target="../charts/chart1.xml" /><Relationship Id="rId5" Type="http://schemas.openxmlformats.org/officeDocument/2006/relationships/image" Target="../media/image9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2.xml" /><Relationship Id="rId4" Type="http://schemas.openxmlformats.org/officeDocument/2006/relationships/image" Target="../media/image1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1A1B4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821187" name="Shape 0"/>
          <p:cNvSpPr/>
          <p:nvPr/>
        </p:nvSpPr>
        <p:spPr bwMode="auto">
          <a:xfrm>
            <a:off x="0" y="3840480"/>
            <a:ext cx="9144000" cy="1303020"/>
          </a:xfrm>
          <a:prstGeom prst="rect">
            <a:avLst/>
          </a:prstGeom>
          <a:solidFill>
            <a:srgbClr val="0D9488">
              <a:alpha val="80000"/>
            </a:srgbClr>
          </a:solidFill>
          <a:ln/>
        </p:spPr>
      </p:sp>
      <p:pic>
        <p:nvPicPr>
          <p:cNvPr id="1635374675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114800" y="548640"/>
            <a:ext cx="914400" cy="914400"/>
          </a:xfrm>
          <a:prstGeom prst="rect">
            <a:avLst/>
          </a:prstGeom>
        </p:spPr>
      </p:pic>
      <p:sp>
        <p:nvSpPr>
          <p:cNvPr id="1027527910" name="Text 1"/>
          <p:cNvSpPr/>
          <p:nvPr/>
        </p:nvSpPr>
        <p:spPr bwMode="auto">
          <a:xfrm>
            <a:off x="457200" y="1463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44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MemGraph</a:t>
            </a:r>
            <a:endParaRPr lang="en-US" sz="4400"/>
          </a:p>
        </p:txBody>
      </p:sp>
      <p:sp>
        <p:nvSpPr>
          <p:cNvPr id="1191751853" name="Text 2"/>
          <p:cNvSpPr/>
          <p:nvPr/>
        </p:nvSpPr>
        <p:spPr bwMode="auto"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000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Hybrid Memory System Benchmark Report</a:t>
            </a:r>
            <a:endParaRPr lang="en-US" sz="2000"/>
          </a:p>
        </p:txBody>
      </p:sp>
      <p:sp>
        <p:nvSpPr>
          <p:cNvPr id="1598451842" name="Text 3"/>
          <p:cNvSpPr/>
          <p:nvPr/>
        </p:nvSpPr>
        <p:spPr bwMode="auto"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Neo4j Knowledge Graph + Qdrant Vector Store + LLM Extraction</a:t>
            </a:r>
            <a:endParaRPr lang="en-US" sz="1400"/>
          </a:p>
        </p:txBody>
      </p:sp>
      <p:sp>
        <p:nvSpPr>
          <p:cNvPr id="1343320128" name="Text 4"/>
          <p:cNvSpPr/>
          <p:nvPr/>
        </p:nvSpPr>
        <p:spPr bwMode="auto"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 Benchmarks  |  30 Seed Messages  |  3 Domains  |  RAGAS Evaluation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6431883" name="Text 0"/>
          <p:cNvSpPr/>
          <p:nvPr/>
        </p:nvSpPr>
        <p:spPr bwMode="auto"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1A1B4B"/>
                </a:solidFill>
                <a:latin typeface="Georgia"/>
                <a:ea typeface="Georgia"/>
                <a:cs typeface="Georgia"/>
              </a:rPr>
              <a:t>Core Hypothesis</a:t>
            </a:r>
            <a:endParaRPr lang="en-US" sz="2800"/>
          </a:p>
        </p:txBody>
      </p:sp>
      <p:sp>
        <p:nvSpPr>
          <p:cNvPr id="173922549" name="Shape 1"/>
          <p:cNvSpPr/>
          <p:nvPr/>
        </p:nvSpPr>
        <p:spPr bwMode="auto">
          <a:xfrm>
            <a:off x="640080" y="914400"/>
            <a:ext cx="7863840" cy="822960"/>
          </a:xfrm>
          <a:prstGeom prst="rect">
            <a:avLst/>
          </a:prstGeom>
          <a:solidFill>
            <a:srgbClr val="F0FDFA"/>
          </a:solidFill>
          <a:ln/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730004380" name="Shape 2"/>
          <p:cNvSpPr/>
          <p:nvPr/>
        </p:nvSpPr>
        <p:spPr bwMode="auto">
          <a:xfrm>
            <a:off x="640080" y="914400"/>
            <a:ext cx="64008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42191221" name="Text 3"/>
          <p:cNvSpPr/>
          <p:nvPr/>
        </p:nvSpPr>
        <p:spPr bwMode="auto">
          <a:xfrm>
            <a:off x="914400" y="96012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Knowledge Graph + Vector Store together produce better LLM context than either alone</a:t>
            </a:r>
            <a:endParaRPr lang="en-US" sz="1600"/>
          </a:p>
        </p:txBody>
      </p:sp>
      <p:sp>
        <p:nvSpPr>
          <p:cNvPr id="1313961307" name="Shape 4"/>
          <p:cNvSpPr/>
          <p:nvPr/>
        </p:nvSpPr>
        <p:spPr bwMode="auto">
          <a:xfrm>
            <a:off x="640080" y="2103120"/>
            <a:ext cx="1920240" cy="2011680"/>
          </a:xfrm>
          <a:prstGeom prst="rect">
            <a:avLst/>
          </a:prstGeom>
          <a:solidFill>
            <a:srgbClr val="F1F5F9"/>
          </a:solidFill>
          <a:ln/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935434400" name="Shape 5"/>
          <p:cNvSpPr/>
          <p:nvPr/>
        </p:nvSpPr>
        <p:spPr bwMode="auto">
          <a:xfrm>
            <a:off x="640080" y="2103120"/>
            <a:ext cx="192024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333378714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371600" y="2331720"/>
            <a:ext cx="457200" cy="457200"/>
          </a:xfrm>
          <a:prstGeom prst="rect">
            <a:avLst/>
          </a:prstGeom>
        </p:spPr>
      </p:pic>
      <p:sp>
        <p:nvSpPr>
          <p:cNvPr id="1341130161" name="Text 6"/>
          <p:cNvSpPr/>
          <p:nvPr/>
        </p:nvSpPr>
        <p:spPr bwMode="auto">
          <a:xfrm>
            <a:off x="640080" y="2880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Extraction</a:t>
            </a:r>
            <a:endParaRPr lang="en-US" sz="1500"/>
          </a:p>
        </p:txBody>
      </p:sp>
      <p:sp>
        <p:nvSpPr>
          <p:cNvPr id="571220453" name="Text 7"/>
          <p:cNvSpPr/>
          <p:nvPr/>
        </p:nvSpPr>
        <p:spPr bwMode="auto">
          <a:xfrm>
            <a:off x="777240" y="32461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Are LLM-extracted</a:t>
            </a:r>
            <a:endParaRPr lang="en-US" sz="1100"/>
          </a:p>
          <a:p>
            <a:pPr marL="0" indent="0" algn="ctr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triples correct?</a:t>
            </a:r>
            <a:endParaRPr lang="en-US" sz="1100"/>
          </a:p>
        </p:txBody>
      </p:sp>
      <p:sp>
        <p:nvSpPr>
          <p:cNvPr id="88719933" name="Shape 8"/>
          <p:cNvSpPr/>
          <p:nvPr/>
        </p:nvSpPr>
        <p:spPr bwMode="auto">
          <a:xfrm>
            <a:off x="2743200" y="2103120"/>
            <a:ext cx="1920240" cy="2011680"/>
          </a:xfrm>
          <a:prstGeom prst="rect">
            <a:avLst/>
          </a:prstGeom>
          <a:solidFill>
            <a:srgbClr val="F1F5F9"/>
          </a:solidFill>
          <a:ln/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729996389" name="Shape 9"/>
          <p:cNvSpPr/>
          <p:nvPr/>
        </p:nvSpPr>
        <p:spPr bwMode="auto">
          <a:xfrm>
            <a:off x="2743200" y="2103120"/>
            <a:ext cx="1920240" cy="54864"/>
          </a:xfrm>
          <a:prstGeom prst="rect">
            <a:avLst/>
          </a:prstGeom>
          <a:solidFill>
            <a:srgbClr val="2D3561"/>
          </a:solidFill>
          <a:ln/>
        </p:spPr>
      </p:sp>
      <p:pic>
        <p:nvPicPr>
          <p:cNvPr id="81713298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474720" y="2331720"/>
            <a:ext cx="457200" cy="457200"/>
          </a:xfrm>
          <a:prstGeom prst="rect">
            <a:avLst/>
          </a:prstGeom>
        </p:spPr>
      </p:pic>
      <p:sp>
        <p:nvSpPr>
          <p:cNvPr id="70065904" name="Text 10"/>
          <p:cNvSpPr/>
          <p:nvPr/>
        </p:nvSpPr>
        <p:spPr bwMode="auto">
          <a:xfrm>
            <a:off x="2743200" y="2880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Retrieval</a:t>
            </a:r>
            <a:endParaRPr lang="en-US" sz="1500"/>
          </a:p>
        </p:txBody>
      </p:sp>
      <p:sp>
        <p:nvSpPr>
          <p:cNvPr id="1330680825" name="Text 11"/>
          <p:cNvSpPr/>
          <p:nvPr/>
        </p:nvSpPr>
        <p:spPr bwMode="auto">
          <a:xfrm>
            <a:off x="2880360" y="32461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Does hybrid beat</a:t>
            </a:r>
            <a:endParaRPr lang="en-US" sz="1100"/>
          </a:p>
          <a:p>
            <a:pPr marL="0" indent="0" algn="ctr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graph or vector alone?</a:t>
            </a:r>
            <a:endParaRPr lang="en-US" sz="1100"/>
          </a:p>
        </p:txBody>
      </p:sp>
      <p:sp>
        <p:nvSpPr>
          <p:cNvPr id="588216937" name="Shape 12"/>
          <p:cNvSpPr/>
          <p:nvPr/>
        </p:nvSpPr>
        <p:spPr bwMode="auto">
          <a:xfrm>
            <a:off x="4846320" y="2103120"/>
            <a:ext cx="1920240" cy="2011680"/>
          </a:xfrm>
          <a:prstGeom prst="rect">
            <a:avLst/>
          </a:prstGeom>
          <a:solidFill>
            <a:srgbClr val="F1F5F9"/>
          </a:solidFill>
          <a:ln/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480040953" name="Shape 13"/>
          <p:cNvSpPr/>
          <p:nvPr/>
        </p:nvSpPr>
        <p:spPr bwMode="auto">
          <a:xfrm>
            <a:off x="4846320" y="2103120"/>
            <a:ext cx="192024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508161708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577840" y="2331720"/>
            <a:ext cx="457200" cy="457200"/>
          </a:xfrm>
          <a:prstGeom prst="rect">
            <a:avLst/>
          </a:prstGeom>
        </p:spPr>
      </p:pic>
      <p:sp>
        <p:nvSpPr>
          <p:cNvPr id="140579586" name="Text 14"/>
          <p:cNvSpPr/>
          <p:nvPr/>
        </p:nvSpPr>
        <p:spPr bwMode="auto">
          <a:xfrm>
            <a:off x="4846320" y="2880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Contradiction</a:t>
            </a:r>
            <a:endParaRPr lang="en-US" sz="1500"/>
          </a:p>
        </p:txBody>
      </p:sp>
      <p:sp>
        <p:nvSpPr>
          <p:cNvPr id="1498355405" name="Text 15"/>
          <p:cNvSpPr/>
          <p:nvPr/>
        </p:nvSpPr>
        <p:spPr bwMode="auto">
          <a:xfrm>
            <a:off x="4983480" y="32461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Does it catch real</a:t>
            </a:r>
            <a:endParaRPr lang="en-US" sz="1100"/>
          </a:p>
          <a:p>
            <a:pPr marL="0" indent="0" algn="ctr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conflicts?</a:t>
            </a:r>
            <a:endParaRPr lang="en-US" sz="1100"/>
          </a:p>
        </p:txBody>
      </p:sp>
      <p:sp>
        <p:nvSpPr>
          <p:cNvPr id="157843395" name="Shape 16"/>
          <p:cNvSpPr/>
          <p:nvPr/>
        </p:nvSpPr>
        <p:spPr bwMode="auto">
          <a:xfrm>
            <a:off x="6949440" y="2103120"/>
            <a:ext cx="1920240" cy="2011680"/>
          </a:xfrm>
          <a:prstGeom prst="rect">
            <a:avLst/>
          </a:prstGeom>
          <a:solidFill>
            <a:srgbClr val="F1F5F9"/>
          </a:solidFill>
          <a:ln/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126477980" name="Shape 17"/>
          <p:cNvSpPr/>
          <p:nvPr/>
        </p:nvSpPr>
        <p:spPr bwMode="auto">
          <a:xfrm>
            <a:off x="6949440" y="2103120"/>
            <a:ext cx="192024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798679181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7680960" y="2331720"/>
            <a:ext cx="457200" cy="457200"/>
          </a:xfrm>
          <a:prstGeom prst="rect">
            <a:avLst/>
          </a:prstGeom>
        </p:spPr>
      </p:pic>
      <p:sp>
        <p:nvSpPr>
          <p:cNvPr id="724832805" name="Text 18"/>
          <p:cNvSpPr/>
          <p:nvPr/>
        </p:nvSpPr>
        <p:spPr bwMode="auto">
          <a:xfrm>
            <a:off x="6949440" y="2880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Generation</a:t>
            </a:r>
            <a:endParaRPr lang="en-US" sz="1500"/>
          </a:p>
        </p:txBody>
      </p:sp>
      <p:sp>
        <p:nvSpPr>
          <p:cNvPr id="940572213" name="Text 19"/>
          <p:cNvSpPr/>
          <p:nvPr/>
        </p:nvSpPr>
        <p:spPr bwMode="auto">
          <a:xfrm>
            <a:off x="7086600" y="32461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RAGAS metrics:</a:t>
            </a:r>
            <a:endParaRPr lang="en-US" sz="1100"/>
          </a:p>
          <a:p>
            <a:pPr marL="0" indent="0" algn="ctr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better answers?</a:t>
            </a:r>
            <a:endParaRPr lang="en-US" sz="1100"/>
          </a:p>
        </p:txBody>
      </p:sp>
      <p:sp>
        <p:nvSpPr>
          <p:cNvPr id="991375023" name="Text 20"/>
          <p:cNvSpPr/>
          <p:nvPr/>
        </p:nvSpPr>
        <p:spPr bwMode="auto">
          <a:xfrm>
            <a:off x="640080" y="4297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Test Data: 30 messages across 3 domains</a:t>
            </a:r>
            <a:endParaRPr lang="en-US" sz="1300"/>
          </a:p>
        </p:txBody>
      </p:sp>
      <p:sp>
        <p:nvSpPr>
          <p:cNvPr id="1436596335" name="Text 21"/>
          <p:cNvSpPr/>
          <p:nvPr/>
        </p:nvSpPr>
        <p:spPr bwMode="auto"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Tech Stack Decisions (10)  </a:t>
            </a:r>
            <a:r>
              <a:rPr lang="en-US" sz="1200" b="1">
                <a:solidFill>
                  <a:srgbClr val="2D3561"/>
                </a:solidFill>
                <a:latin typeface="Calibri"/>
                <a:ea typeface="Calibri"/>
                <a:cs typeface="Calibri"/>
              </a:rPr>
              <a:t>Project Planning (10)  </a:t>
            </a:r>
            <a:r>
              <a:rPr lang="en-US" sz="12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Hiring &amp; Team (10)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8888169" name="Text 0"/>
          <p:cNvSpPr/>
          <p:nvPr/>
        </p:nvSpPr>
        <p:spPr bwMode="auto">
          <a:xfrm>
            <a:off x="64008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1A1B4B"/>
                </a:solidFill>
                <a:latin typeface="Georgia"/>
                <a:ea typeface="Georgia"/>
                <a:cs typeface="Georgia"/>
              </a:rPr>
              <a:t>Benchmark 1: Extraction Quality</a:t>
            </a:r>
            <a:endParaRPr lang="en-US" sz="2800"/>
          </a:p>
        </p:txBody>
      </p:sp>
      <p:pic>
        <p:nvPicPr>
          <p:cNvPr id="874048252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229600" y="320040"/>
            <a:ext cx="411480" cy="411480"/>
          </a:xfrm>
          <a:prstGeom prst="rect">
            <a:avLst/>
          </a:prstGeom>
        </p:spPr>
      </p:pic>
      <p:sp>
        <p:nvSpPr>
          <p:cNvPr id="1029927934" name="Text 1"/>
          <p:cNvSpPr/>
          <p:nvPr/>
        </p:nvSpPr>
        <p:spPr bwMode="auto">
          <a:xfrm>
            <a:off x="7498080" y="3200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4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PASS</a:t>
            </a:r>
            <a:endParaRPr lang="en-US" sz="1400"/>
          </a:p>
        </p:txBody>
      </p:sp>
      <p:sp>
        <p:nvSpPr>
          <p:cNvPr id="1183558207" name="Text 2"/>
          <p:cNvSpPr/>
          <p:nvPr/>
        </p:nvSpPr>
        <p:spPr bwMode="auto">
          <a:xfrm>
            <a:off x="640080" y="822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Does Llama 3.3 correctly extract structured triples from natural language?</a:t>
            </a:r>
            <a:endParaRPr lang="en-US" sz="1300"/>
          </a:p>
        </p:txBody>
      </p:sp>
      <p:sp>
        <p:nvSpPr>
          <p:cNvPr id="1315394857" name="Shape 3"/>
          <p:cNvSpPr/>
          <p:nvPr/>
        </p:nvSpPr>
        <p:spPr bwMode="auto">
          <a:xfrm>
            <a:off x="640080" y="1371600"/>
            <a:ext cx="2560320" cy="1554480"/>
          </a:xfrm>
          <a:prstGeom prst="rect">
            <a:avLst/>
          </a:prstGeom>
          <a:solidFill>
            <a:srgbClr val="D1FAE5"/>
          </a:solidFill>
          <a:ln/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213719350" name="Text 4"/>
          <p:cNvSpPr/>
          <p:nvPr/>
        </p:nvSpPr>
        <p:spPr bwMode="auto">
          <a:xfrm>
            <a:off x="640080" y="14173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600" b="1">
                <a:solidFill>
                  <a:srgbClr val="10B981"/>
                </a:solidFill>
                <a:latin typeface="Georgia"/>
                <a:ea typeface="Georgia"/>
                <a:cs typeface="Georgia"/>
              </a:rPr>
              <a:t>100%</a:t>
            </a:r>
            <a:endParaRPr lang="en-US" sz="3600"/>
          </a:p>
        </p:txBody>
      </p:sp>
      <p:sp>
        <p:nvSpPr>
          <p:cNvPr id="1143047103" name="Text 5"/>
          <p:cNvSpPr/>
          <p:nvPr/>
        </p:nvSpPr>
        <p:spPr bwMode="auto">
          <a:xfrm>
            <a:off x="640080" y="2011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Recall</a:t>
            </a:r>
            <a:endParaRPr lang="en-US" sz="1400"/>
          </a:p>
        </p:txBody>
      </p:sp>
      <p:sp>
        <p:nvSpPr>
          <p:cNvPr id="933312456" name="Text 6"/>
          <p:cNvSpPr/>
          <p:nvPr/>
        </p:nvSpPr>
        <p:spPr bwMode="auto">
          <a:xfrm>
            <a:off x="822960" y="23317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Finds every</a:t>
            </a:r>
            <a:endParaRPr lang="en-US" sz="1000"/>
          </a:p>
          <a:p>
            <a:pPr marL="0" indent="0" algn="ctr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expected triple</a:t>
            </a:r>
            <a:endParaRPr lang="en-US" sz="1000"/>
          </a:p>
        </p:txBody>
      </p:sp>
      <p:sp>
        <p:nvSpPr>
          <p:cNvPr id="186912777" name="Shape 7"/>
          <p:cNvSpPr/>
          <p:nvPr/>
        </p:nvSpPr>
        <p:spPr bwMode="auto">
          <a:xfrm>
            <a:off x="3474720" y="1371600"/>
            <a:ext cx="2560320" cy="1554480"/>
          </a:xfrm>
          <a:prstGeom prst="rect">
            <a:avLst/>
          </a:prstGeom>
          <a:solidFill>
            <a:srgbClr val="D1FAE5"/>
          </a:solidFill>
          <a:ln/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688892971" name="Text 8"/>
          <p:cNvSpPr/>
          <p:nvPr/>
        </p:nvSpPr>
        <p:spPr bwMode="auto">
          <a:xfrm>
            <a:off x="3474720" y="14173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600" b="1">
                <a:solidFill>
                  <a:srgbClr val="10B981"/>
                </a:solidFill>
                <a:latin typeface="Georgia"/>
                <a:ea typeface="Georgia"/>
                <a:cs typeface="Georgia"/>
              </a:rPr>
              <a:t>87%</a:t>
            </a:r>
            <a:endParaRPr lang="en-US" sz="3600"/>
          </a:p>
        </p:txBody>
      </p:sp>
      <p:sp>
        <p:nvSpPr>
          <p:cNvPr id="596126139" name="Text 9"/>
          <p:cNvSpPr/>
          <p:nvPr/>
        </p:nvSpPr>
        <p:spPr bwMode="auto">
          <a:xfrm>
            <a:off x="3474720" y="2011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Edge Type Acc.</a:t>
            </a:r>
            <a:endParaRPr lang="en-US" sz="1400"/>
          </a:p>
        </p:txBody>
      </p:sp>
      <p:sp>
        <p:nvSpPr>
          <p:cNvPr id="839351990" name="Text 10"/>
          <p:cNvSpPr/>
          <p:nvPr/>
        </p:nvSpPr>
        <p:spPr bwMode="auto">
          <a:xfrm>
            <a:off x="3657600" y="23317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Correct classification</a:t>
            </a:r>
            <a:endParaRPr lang="en-US" sz="1000"/>
          </a:p>
          <a:p>
            <a:pPr marL="0" indent="0" algn="ctr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(DECIDED, REJECTED...)</a:t>
            </a:r>
            <a:endParaRPr lang="en-US" sz="1000"/>
          </a:p>
        </p:txBody>
      </p:sp>
      <p:sp>
        <p:nvSpPr>
          <p:cNvPr id="943240154" name="Shape 11"/>
          <p:cNvSpPr/>
          <p:nvPr/>
        </p:nvSpPr>
        <p:spPr bwMode="auto">
          <a:xfrm>
            <a:off x="6309360" y="1371600"/>
            <a:ext cx="2560320" cy="1554480"/>
          </a:xfrm>
          <a:prstGeom prst="rect">
            <a:avLst/>
          </a:prstGeom>
          <a:solidFill>
            <a:srgbClr val="FEF3C7"/>
          </a:solidFill>
          <a:ln/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485374112" name="Text 12"/>
          <p:cNvSpPr/>
          <p:nvPr/>
        </p:nvSpPr>
        <p:spPr bwMode="auto">
          <a:xfrm>
            <a:off x="6309360" y="14173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600" b="1">
                <a:solidFill>
                  <a:srgbClr val="F59E0B"/>
                </a:solidFill>
                <a:latin typeface="Georgia"/>
                <a:ea typeface="Georgia"/>
                <a:cs typeface="Georgia"/>
              </a:rPr>
              <a:t>61%</a:t>
            </a:r>
            <a:endParaRPr lang="en-US" sz="3600"/>
          </a:p>
        </p:txBody>
      </p:sp>
      <p:sp>
        <p:nvSpPr>
          <p:cNvPr id="1386877500" name="Text 13"/>
          <p:cNvSpPr/>
          <p:nvPr/>
        </p:nvSpPr>
        <p:spPr bwMode="auto">
          <a:xfrm>
            <a:off x="6309360" y="2011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Precision</a:t>
            </a:r>
            <a:endParaRPr lang="en-US" sz="1400"/>
          </a:p>
        </p:txBody>
      </p:sp>
      <p:sp>
        <p:nvSpPr>
          <p:cNvPr id="814863759" name="Text 14"/>
          <p:cNvSpPr/>
          <p:nvPr/>
        </p:nvSpPr>
        <p:spPr bwMode="auto">
          <a:xfrm>
            <a:off x="6492240" y="23317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Low because LLM extracts</a:t>
            </a:r>
            <a:endParaRPr lang="en-US" sz="1000"/>
          </a:p>
          <a:p>
            <a:pPr marL="0" indent="0" algn="ctr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valid extra triples</a:t>
            </a:r>
            <a:endParaRPr lang="en-US" sz="1000"/>
          </a:p>
        </p:txBody>
      </p:sp>
      <p:sp>
        <p:nvSpPr>
          <p:cNvPr id="344403781" name="Text 15"/>
          <p:cNvSpPr/>
          <p:nvPr/>
        </p:nvSpPr>
        <p:spPr bwMode="auto">
          <a:xfrm>
            <a:off x="64008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Per Edge Type Accuracy</a:t>
            </a:r>
            <a:endParaRPr lang="en-US" sz="1400"/>
          </a:p>
        </p:txBody>
      </p:sp>
      <p:graphicFrame>
        <p:nvGraphicFramePr>
          <p:cNvPr id="622647502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640080" y="3566160"/>
          <a:ext cx="4114800" cy="9144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2743200"/>
                <a:gridCol w="1371600"/>
              </a:tblGrid>
              <a:tr h="32004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Edge Type</a:t>
                      </a:r>
                      <a:endParaRPr lang="en-US" sz="11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1A1B4B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1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1A1B4B"/>
                    </a:solidFill>
                  </a:tcPr>
                </a:tc>
              </a:tr>
              <a:tr h="27432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DEPENDS_ON</a:t>
                      </a:r>
                      <a:endParaRPr lang="en-US" sz="11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00" b="1">
                          <a:solidFill>
                            <a:srgbClr val="10B981"/>
                          </a:solidFill>
                        </a:rPr>
                        <a:t>100%</a:t>
                      </a:r>
                      <a:endParaRPr lang="en-US" sz="11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DECIDED</a:t>
                      </a:r>
                      <a:endParaRPr lang="en-US" sz="11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00" b="1">
                          <a:solidFill>
                            <a:srgbClr val="10B981"/>
                          </a:solidFill>
                        </a:rPr>
                        <a:t>100%</a:t>
                      </a:r>
                      <a:endParaRPr lang="en-US" sz="11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REJECTED</a:t>
                      </a:r>
                      <a:endParaRPr lang="en-US" sz="11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00" b="1">
                          <a:solidFill>
                            <a:srgbClr val="10B981"/>
                          </a:solidFill>
                        </a:rPr>
                        <a:t>100%</a:t>
                      </a:r>
                      <a:endParaRPr lang="en-US" sz="11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IS_UNCERTAIN_ABOUT</a:t>
                      </a:r>
                      <a:endParaRPr lang="en-US" sz="11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100" b="1">
                          <a:solidFill>
                            <a:srgbClr val="F59E0B"/>
                          </a:solidFill>
                        </a:rPr>
                        <a:t>60%</a:t>
                      </a:r>
                      <a:endParaRPr lang="en-US" sz="11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58865699" name="Shape 16"/>
          <p:cNvSpPr/>
          <p:nvPr/>
        </p:nvSpPr>
        <p:spPr bwMode="auto">
          <a:xfrm>
            <a:off x="5120640" y="3566160"/>
            <a:ext cx="3566160" cy="1371600"/>
          </a:xfrm>
          <a:prstGeom prst="rect">
            <a:avLst/>
          </a:prstGeom>
          <a:solidFill>
            <a:srgbClr val="F0FDFA"/>
          </a:solidFill>
          <a:ln/>
        </p:spPr>
      </p:sp>
      <p:pic>
        <p:nvPicPr>
          <p:cNvPr id="2091137711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303520" y="3657600"/>
            <a:ext cx="320040" cy="320040"/>
          </a:xfrm>
          <a:prstGeom prst="rect">
            <a:avLst/>
          </a:prstGeom>
        </p:spPr>
      </p:pic>
      <p:sp>
        <p:nvSpPr>
          <p:cNvPr id="1936015075" name="Text 17"/>
          <p:cNvSpPr/>
          <p:nvPr/>
        </p:nvSpPr>
        <p:spPr bwMode="auto">
          <a:xfrm>
            <a:off x="5669280" y="3657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Key Insight</a:t>
            </a:r>
            <a:endParaRPr lang="en-US" sz="1300"/>
          </a:p>
        </p:txBody>
      </p:sp>
      <p:sp>
        <p:nvSpPr>
          <p:cNvPr id="507780484" name="Text 18"/>
          <p:cNvSpPr/>
          <p:nvPr/>
        </p:nvSpPr>
        <p:spPr bwMode="auto">
          <a:xfrm>
            <a:off x="5303520" y="40233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Precision appears low because the LLM extracts additional valid triples beyond our conservative ground truth. The system finds MORE than expected, not wrong facts.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260907" name="Text 0"/>
          <p:cNvSpPr/>
          <p:nvPr/>
        </p:nvSpPr>
        <p:spPr bwMode="auto">
          <a:xfrm>
            <a:off x="64008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1A1B4B"/>
                </a:solidFill>
                <a:latin typeface="Georgia"/>
                <a:ea typeface="Georgia"/>
                <a:cs typeface="Georgia"/>
              </a:rPr>
              <a:t>Benchmark 2: Retrieval Quality</a:t>
            </a:r>
            <a:endParaRPr lang="en-US" sz="2800"/>
          </a:p>
        </p:txBody>
      </p:sp>
      <p:pic>
        <p:nvPicPr>
          <p:cNvPr id="63574316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229600" y="320040"/>
            <a:ext cx="411480" cy="411480"/>
          </a:xfrm>
          <a:prstGeom prst="rect">
            <a:avLst/>
          </a:prstGeom>
        </p:spPr>
      </p:pic>
      <p:sp>
        <p:nvSpPr>
          <p:cNvPr id="5993730" name="Text 1"/>
          <p:cNvSpPr/>
          <p:nvPr/>
        </p:nvSpPr>
        <p:spPr bwMode="auto">
          <a:xfrm>
            <a:off x="7498080" y="3200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4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PASS</a:t>
            </a:r>
            <a:endParaRPr lang="en-US" sz="1400"/>
          </a:p>
        </p:txBody>
      </p:sp>
      <p:sp>
        <p:nvSpPr>
          <p:cNvPr id="1361187201" name="Text 2"/>
          <p:cNvSpPr/>
          <p:nvPr/>
        </p:nvSpPr>
        <p:spPr bwMode="auto">
          <a:xfrm>
            <a:off x="640080" y="822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Does RRF-fused hybrid retrieval beat graph-only and vector-only? 20 queries tested.</a:t>
            </a:r>
            <a:endParaRPr lang="en-US" sz="1300"/>
          </a:p>
        </p:txBody>
      </p:sp>
      <p:graphicFrame>
        <p:nvGraphicFramePr>
          <p:cNvPr id="922713934" name="Chart 0" descr=""/>
          <p:cNvGraphicFramePr>
            <a:graphicFrameLocks xmlns:a="http://schemas.openxmlformats.org/drawingml/2006/main"/>
          </p:cNvGraphicFramePr>
          <p:nvPr/>
        </p:nvGraphicFramePr>
        <p:xfrm rot="0">
          <a:off x="457200" y="1280160"/>
          <a:ext cx="41148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58151699" name="Shape 3"/>
          <p:cNvSpPr/>
          <p:nvPr/>
        </p:nvSpPr>
        <p:spPr bwMode="auto">
          <a:xfrm>
            <a:off x="5029200" y="1280160"/>
            <a:ext cx="3657600" cy="1005840"/>
          </a:xfrm>
          <a:prstGeom prst="rect">
            <a:avLst/>
          </a:prstGeom>
          <a:solidFill>
            <a:srgbClr val="D1FAE5"/>
          </a:solidFill>
          <a:ln/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471891741" name="Text 4"/>
          <p:cNvSpPr/>
          <p:nvPr/>
        </p:nvSpPr>
        <p:spPr bwMode="auto">
          <a:xfrm>
            <a:off x="5029200" y="128016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200" b="1">
                <a:solidFill>
                  <a:srgbClr val="10B981"/>
                </a:solidFill>
                <a:latin typeface="Georgia"/>
                <a:ea typeface="Georgia"/>
                <a:cs typeface="Georgia"/>
              </a:rPr>
              <a:t>17 / 20</a:t>
            </a:r>
            <a:endParaRPr lang="en-US" sz="3200"/>
          </a:p>
        </p:txBody>
      </p:sp>
      <p:sp>
        <p:nvSpPr>
          <p:cNvPr id="2057517438" name="Text 5"/>
          <p:cNvSpPr/>
          <p:nvPr/>
        </p:nvSpPr>
        <p:spPr bwMode="auto">
          <a:xfrm>
            <a:off x="6400800" y="12801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Hybrid won or tied</a:t>
            </a:r>
            <a:endParaRPr lang="en-US" sz="1300"/>
          </a:p>
          <a:p>
            <a:pPr marL="0" indent="0">
              <a:buNone/>
              <a:defRPr/>
            </a:pP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across all query types</a:t>
            </a:r>
            <a:endParaRPr lang="en-US" sz="1300"/>
          </a:p>
        </p:txBody>
      </p:sp>
      <p:sp>
        <p:nvSpPr>
          <p:cNvPr id="71143418" name="Text 6"/>
          <p:cNvSpPr/>
          <p:nvPr/>
        </p:nvSpPr>
        <p:spPr bwMode="auto">
          <a:xfrm>
            <a:off x="502920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Per Query Type (Precision@3)</a:t>
            </a:r>
            <a:endParaRPr lang="en-US" sz="1300"/>
          </a:p>
        </p:txBody>
      </p:sp>
      <p:graphicFrame>
        <p:nvGraphicFramePr>
          <p:cNvPr id="250394240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5029200" y="2834640"/>
          <a:ext cx="3657600" cy="9144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188720"/>
                <a:gridCol w="822960"/>
                <a:gridCol w="822960"/>
                <a:gridCol w="822960"/>
              </a:tblGrid>
              <a:tr h="27432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Query Type</a:t>
                      </a:r>
                      <a:endParaRPr lang="en-US" sz="10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1A1B4B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Graph</a:t>
                      </a:r>
                      <a:endParaRPr lang="en-US" sz="10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1A1B4B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Vector</a:t>
                      </a:r>
                      <a:endParaRPr lang="en-US" sz="10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1A1B4B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</a:rPr>
                        <a:t>Hybrid</a:t>
                      </a:r>
                      <a:endParaRPr lang="en-US" sz="10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  <a:solidFill>
                      <a:srgbClr val="1A1B4B"/>
                    </a:solidFill>
                  </a:tcPr>
                </a:tc>
              </a:tr>
              <a:tr h="256032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Factual</a:t>
                      </a:r>
                      <a:endParaRPr lang="en-US" sz="10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0.25</a:t>
                      </a:r>
                      <a:endParaRPr lang="en-US" sz="10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10B981"/>
                          </a:solidFill>
                        </a:rPr>
                        <a:t>0.50</a:t>
                      </a:r>
                      <a:endParaRPr lang="en-US" sz="10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0.42</a:t>
                      </a:r>
                      <a:endParaRPr lang="en-US" sz="10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Causal</a:t>
                      </a:r>
                      <a:endParaRPr lang="en-US" sz="10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0.33</a:t>
                      </a:r>
                      <a:endParaRPr lang="en-US" sz="10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0.33</a:t>
                      </a:r>
                      <a:endParaRPr lang="en-US" sz="10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0.33</a:t>
                      </a:r>
                      <a:endParaRPr lang="en-US" sz="10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Dependency</a:t>
                      </a:r>
                      <a:endParaRPr lang="en-US" sz="10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10B981"/>
                          </a:solidFill>
                        </a:rPr>
                        <a:t>0.42</a:t>
                      </a:r>
                      <a:endParaRPr lang="en-US" sz="10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0.33</a:t>
                      </a:r>
                      <a:endParaRPr lang="en-US" sz="10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0.33</a:t>
                      </a:r>
                      <a:endParaRPr lang="en-US" sz="10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Uncertainty</a:t>
                      </a:r>
                      <a:endParaRPr lang="en-US" sz="10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0.33</a:t>
                      </a:r>
                      <a:endParaRPr lang="en-US" sz="10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0.17</a:t>
                      </a:r>
                      <a:endParaRPr lang="en-US" sz="10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10B981"/>
                          </a:solidFill>
                        </a:rPr>
                        <a:t>0.42</a:t>
                      </a:r>
                      <a:endParaRPr lang="en-US" sz="10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Cross-domain</a:t>
                      </a:r>
                      <a:endParaRPr lang="en-US" sz="10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 b="1">
                          <a:solidFill>
                            <a:srgbClr val="10B981"/>
                          </a:solidFill>
                        </a:rPr>
                        <a:t>0.58</a:t>
                      </a:r>
                      <a:endParaRPr lang="en-US" sz="10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0.25</a:t>
                      </a:r>
                      <a:endParaRPr lang="en-US" sz="10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0.50</a:t>
                      </a:r>
                      <a:endParaRPr lang="en-US" sz="1000"/>
                    </a:p>
                  </a:txBody>
                  <a:tcPr marL="91440" marR="91440" marT="45720" marB="45720">
                    <a:lnL w="6350" algn="ctr">
                      <a:solidFill>
                        <a:srgbClr val="E2E8F0"/>
                      </a:solidFill>
                    </a:lnL>
                    <a:lnR w="6350" algn="ctr">
                      <a:solidFill>
                        <a:srgbClr val="E2E8F0"/>
                      </a:solidFill>
                    </a:lnR>
                    <a:lnT w="6350" algn="ctr">
                      <a:solidFill>
                        <a:srgbClr val="E2E8F0"/>
                      </a:solidFill>
                    </a:lnT>
                    <a:lnB w="6350" algn="ctr">
                      <a:solidFill>
                        <a:srgbClr val="E2E8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90142546" name="Shape 7"/>
          <p:cNvSpPr/>
          <p:nvPr/>
        </p:nvSpPr>
        <p:spPr bwMode="auto">
          <a:xfrm>
            <a:off x="640080" y="3840480"/>
            <a:ext cx="8046720" cy="1097280"/>
          </a:xfrm>
          <a:prstGeom prst="rect">
            <a:avLst/>
          </a:prstGeom>
          <a:solidFill>
            <a:srgbClr val="F0FDFA"/>
          </a:solidFill>
          <a:ln/>
        </p:spPr>
      </p:sp>
      <p:pic>
        <p:nvPicPr>
          <p:cNvPr id="730681089" name="Image 1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777240" y="3931920"/>
            <a:ext cx="274320" cy="274320"/>
          </a:xfrm>
          <a:prstGeom prst="rect">
            <a:avLst/>
          </a:prstGeom>
        </p:spPr>
      </p:pic>
      <p:sp>
        <p:nvSpPr>
          <p:cNvPr id="1573644946" name="Text 8"/>
          <p:cNvSpPr/>
          <p:nvPr/>
        </p:nvSpPr>
        <p:spPr bwMode="auto">
          <a:xfrm>
            <a:off x="1143000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Key Findings</a:t>
            </a:r>
            <a:endParaRPr lang="en-US" sz="1300"/>
          </a:p>
        </p:txBody>
      </p:sp>
      <p:sp>
        <p:nvSpPr>
          <p:cNvPr id="761938488" name="Text 9"/>
          <p:cNvSpPr/>
          <p:nvPr/>
        </p:nvSpPr>
        <p:spPr bwMode="auto">
          <a:xfrm>
            <a:off x="777240" y="42519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Graph dominates structural queries </a:t>
            </a:r>
            <a:endParaRPr lang="en-US" sz="1050"/>
          </a:p>
          <a:p>
            <a:pPr marL="0" indent="0">
              <a:buNone/>
              <a:defRPr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(cross-domain 0.58 vs vector 0.25, dependency 0.42 vs 0.33)</a:t>
            </a:r>
            <a:endParaRPr lang="en-US" sz="1050"/>
          </a:p>
          <a:p>
            <a:pPr marL="0" indent="0">
              <a:buNone/>
              <a:defRPr/>
            </a:pPr>
            <a:r>
              <a:rPr lang="en-US" sz="105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Vector dominates factual queries </a:t>
            </a:r>
            <a:endParaRPr lang="en-US" sz="1050"/>
          </a:p>
          <a:p>
            <a:pPr marL="0" indent="0">
              <a:buNone/>
              <a:defRPr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(factual 0.50 vs graph 0.25 — semantic similarity excels at 'what did we choose?')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3314707" name="Text 0"/>
          <p:cNvSpPr/>
          <p:nvPr/>
        </p:nvSpPr>
        <p:spPr bwMode="auto">
          <a:xfrm>
            <a:off x="64008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1A1B4B"/>
                </a:solidFill>
                <a:latin typeface="Georgia"/>
                <a:ea typeface="Georgia"/>
                <a:cs typeface="Georgia"/>
              </a:rPr>
              <a:t>Benchmark 3: Contradiction Detection</a:t>
            </a:r>
            <a:endParaRPr lang="en-US" sz="2800"/>
          </a:p>
        </p:txBody>
      </p:sp>
      <p:pic>
        <p:nvPicPr>
          <p:cNvPr id="295942191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229600" y="320040"/>
            <a:ext cx="411480" cy="411480"/>
          </a:xfrm>
          <a:prstGeom prst="rect">
            <a:avLst/>
          </a:prstGeom>
        </p:spPr>
      </p:pic>
      <p:sp>
        <p:nvSpPr>
          <p:cNvPr id="1420644564" name="Text 1"/>
          <p:cNvSpPr/>
          <p:nvPr/>
        </p:nvSpPr>
        <p:spPr bwMode="auto">
          <a:xfrm>
            <a:off x="7132320" y="3200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4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IMPROVED</a:t>
            </a:r>
            <a:endParaRPr lang="en-US" sz="1400"/>
          </a:p>
        </p:txBody>
      </p:sp>
      <p:sp>
        <p:nvSpPr>
          <p:cNvPr id="1901357375" name="Text 2"/>
          <p:cNvSpPr/>
          <p:nvPr/>
        </p:nvSpPr>
        <p:spPr bwMode="auto">
          <a:xfrm>
            <a:off x="640080" y="822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Can the system catch real contradictions while avoiding false positives? 15 test cases.</a:t>
            </a:r>
            <a:endParaRPr lang="en-US" sz="1300"/>
          </a:p>
        </p:txBody>
      </p:sp>
      <p:sp>
        <p:nvSpPr>
          <p:cNvPr id="7155375" name="Shape 3"/>
          <p:cNvSpPr/>
          <p:nvPr/>
        </p:nvSpPr>
        <p:spPr bwMode="auto">
          <a:xfrm>
            <a:off x="640080" y="1371600"/>
            <a:ext cx="2560320" cy="1371600"/>
          </a:xfrm>
          <a:prstGeom prst="rect">
            <a:avLst/>
          </a:prstGeom>
          <a:solidFill>
            <a:srgbClr val="D1FAE5"/>
          </a:solidFill>
          <a:ln/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793184247" name="Text 4"/>
          <p:cNvSpPr/>
          <p:nvPr/>
        </p:nvSpPr>
        <p:spPr bwMode="auto">
          <a:xfrm>
            <a:off x="640080" y="14173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600" b="1">
                <a:solidFill>
                  <a:srgbClr val="10B981"/>
                </a:solidFill>
                <a:latin typeface="Georgia"/>
                <a:ea typeface="Georgia"/>
                <a:cs typeface="Georgia"/>
              </a:rPr>
              <a:t>100%</a:t>
            </a:r>
            <a:endParaRPr lang="en-US" sz="3600"/>
          </a:p>
        </p:txBody>
      </p:sp>
      <p:sp>
        <p:nvSpPr>
          <p:cNvPr id="875034483" name="Text 5"/>
          <p:cNvSpPr/>
          <p:nvPr/>
        </p:nvSpPr>
        <p:spPr bwMode="auto">
          <a:xfrm>
            <a:off x="640080" y="1920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Precision</a:t>
            </a:r>
            <a:endParaRPr lang="en-US" sz="1400"/>
          </a:p>
        </p:txBody>
      </p:sp>
      <p:sp>
        <p:nvSpPr>
          <p:cNvPr id="714679461" name="Text 6"/>
          <p:cNvSpPr/>
          <p:nvPr/>
        </p:nvSpPr>
        <p:spPr bwMode="auto">
          <a:xfrm>
            <a:off x="822960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Zero false positives</a:t>
            </a:r>
            <a:endParaRPr lang="en-US" sz="1000"/>
          </a:p>
          <a:p>
            <a:pPr marL="0" indent="0" algn="ctr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(was 50%, now perfect)</a:t>
            </a:r>
            <a:endParaRPr lang="en-US" sz="1000"/>
          </a:p>
        </p:txBody>
      </p:sp>
      <p:sp>
        <p:nvSpPr>
          <p:cNvPr id="1416976941" name="Shape 7"/>
          <p:cNvSpPr/>
          <p:nvPr/>
        </p:nvSpPr>
        <p:spPr bwMode="auto">
          <a:xfrm>
            <a:off x="3474720" y="1371600"/>
            <a:ext cx="2560320" cy="1371600"/>
          </a:xfrm>
          <a:prstGeom prst="rect">
            <a:avLst/>
          </a:prstGeom>
          <a:solidFill>
            <a:srgbClr val="FEE2E2"/>
          </a:solidFill>
          <a:ln/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329086902" name="Text 8"/>
          <p:cNvSpPr/>
          <p:nvPr/>
        </p:nvSpPr>
        <p:spPr bwMode="auto">
          <a:xfrm>
            <a:off x="3474720" y="14173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600" b="1">
                <a:solidFill>
                  <a:srgbClr val="EF4444"/>
                </a:solidFill>
                <a:latin typeface="Georgia"/>
                <a:ea typeface="Georgia"/>
                <a:cs typeface="Georgia"/>
              </a:rPr>
              <a:t>29%</a:t>
            </a:r>
            <a:endParaRPr lang="en-US" sz="3600"/>
          </a:p>
        </p:txBody>
      </p:sp>
      <p:sp>
        <p:nvSpPr>
          <p:cNvPr id="609979917" name="Text 9"/>
          <p:cNvSpPr/>
          <p:nvPr/>
        </p:nvSpPr>
        <p:spPr bwMode="auto">
          <a:xfrm>
            <a:off x="3474720" y="1920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Recall</a:t>
            </a:r>
            <a:endParaRPr lang="en-US" sz="1400"/>
          </a:p>
        </p:txBody>
      </p:sp>
      <p:sp>
        <p:nvSpPr>
          <p:cNvPr id="1546893702" name="Text 10"/>
          <p:cNvSpPr/>
          <p:nvPr/>
        </p:nvSpPr>
        <p:spPr bwMode="auto">
          <a:xfrm>
            <a:off x="3657600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Misses 5 out of 7</a:t>
            </a:r>
            <a:endParaRPr lang="en-US" sz="1000"/>
          </a:p>
          <a:p>
            <a:pPr marL="0" indent="0" algn="ctr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subtle contradictions</a:t>
            </a:r>
            <a:endParaRPr lang="en-US" sz="1000"/>
          </a:p>
        </p:txBody>
      </p:sp>
      <p:sp>
        <p:nvSpPr>
          <p:cNvPr id="461840267" name="Shape 11"/>
          <p:cNvSpPr/>
          <p:nvPr/>
        </p:nvSpPr>
        <p:spPr bwMode="auto">
          <a:xfrm>
            <a:off x="6309360" y="1371600"/>
            <a:ext cx="2560320" cy="1371600"/>
          </a:xfrm>
          <a:prstGeom prst="rect">
            <a:avLst/>
          </a:prstGeom>
          <a:solidFill>
            <a:srgbClr val="FEF3C7"/>
          </a:solidFill>
          <a:ln/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496714319" name="Text 12"/>
          <p:cNvSpPr/>
          <p:nvPr/>
        </p:nvSpPr>
        <p:spPr bwMode="auto">
          <a:xfrm>
            <a:off x="6309360" y="14173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3600" b="1">
                <a:solidFill>
                  <a:srgbClr val="F59E0B"/>
                </a:solidFill>
                <a:latin typeface="Georgia"/>
                <a:ea typeface="Georgia"/>
                <a:cs typeface="Georgia"/>
              </a:rPr>
              <a:t>44%</a:t>
            </a:r>
            <a:endParaRPr lang="en-US" sz="3600"/>
          </a:p>
        </p:txBody>
      </p:sp>
      <p:sp>
        <p:nvSpPr>
          <p:cNvPr id="203019019" name="Text 13"/>
          <p:cNvSpPr/>
          <p:nvPr/>
        </p:nvSpPr>
        <p:spPr bwMode="auto">
          <a:xfrm>
            <a:off x="6309360" y="1920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F1 Score</a:t>
            </a:r>
            <a:endParaRPr lang="en-US" sz="1400"/>
          </a:p>
        </p:txBody>
      </p:sp>
      <p:sp>
        <p:nvSpPr>
          <p:cNvPr id="1350985059" name="Text 14"/>
          <p:cNvSpPr/>
          <p:nvPr/>
        </p:nvSpPr>
        <p:spPr bwMode="auto">
          <a:xfrm>
            <a:off x="6492240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Improved from 36%</a:t>
            </a:r>
            <a:endParaRPr lang="en-US" sz="1000"/>
          </a:p>
          <a:p>
            <a:pPr marL="0" indent="0" algn="ctr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(model limitation)</a:t>
            </a:r>
            <a:endParaRPr lang="en-US" sz="1000"/>
          </a:p>
        </p:txBody>
      </p:sp>
      <p:sp>
        <p:nvSpPr>
          <p:cNvPr id="545360220" name="Shape 15"/>
          <p:cNvSpPr/>
          <p:nvPr/>
        </p:nvSpPr>
        <p:spPr bwMode="auto">
          <a:xfrm>
            <a:off x="640080" y="3017519"/>
            <a:ext cx="3840480" cy="192024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892120645" name="Text 16"/>
          <p:cNvSpPr/>
          <p:nvPr/>
        </p:nvSpPr>
        <p:spPr bwMode="auto">
          <a:xfrm>
            <a:off x="822960" y="3108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What Worked (100%)</a:t>
            </a:r>
            <a:endParaRPr lang="en-US" sz="1300"/>
          </a:p>
        </p:txBody>
      </p:sp>
      <p:sp>
        <p:nvSpPr>
          <p:cNvPr id="1986835887" name="Text 17"/>
          <p:cNvSpPr/>
          <p:nvPr/>
        </p:nvSpPr>
        <p:spPr bwMode="auto">
          <a:xfrm>
            <a:off x="822960" y="342900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  <a:defRPr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Direct reversals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 'MySQL instead of PostgreSQL'</a:t>
            </a:r>
            <a:endParaRPr lang="en-US" sz="1100"/>
          </a:p>
          <a:p>
            <a:pPr marL="342900" indent="-342900">
              <a:buSzPct val="100000"/>
              <a:buChar char="•"/>
              <a:defRPr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All non-contradictions correct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 Hypotheticals, restatements, new topics</a:t>
            </a:r>
            <a:endParaRPr lang="en-US" sz="1100"/>
          </a:p>
          <a:p>
            <a:pPr marL="342900" indent="-342900">
              <a:buSzPct val="100000"/>
              <a:buChar char="•"/>
              <a:defRPr/>
            </a:pPr>
            <a:r>
              <a:rPr lang="en-US" sz="1100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Zero false positives (up from 50%)</a:t>
            </a:r>
            <a:endParaRPr lang="en-US" sz="1100"/>
          </a:p>
        </p:txBody>
      </p:sp>
      <p:sp>
        <p:nvSpPr>
          <p:cNvPr id="148732434" name="Shape 18"/>
          <p:cNvSpPr/>
          <p:nvPr/>
        </p:nvSpPr>
        <p:spPr bwMode="auto">
          <a:xfrm>
            <a:off x="4663440" y="3017519"/>
            <a:ext cx="4023360" cy="192024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076612713" name="Text 19"/>
          <p:cNvSpPr/>
          <p:nvPr/>
        </p:nvSpPr>
        <p:spPr bwMode="auto">
          <a:xfrm>
            <a:off x="4846320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EF4444"/>
                </a:solidFill>
                <a:latin typeface="Calibri"/>
                <a:ea typeface="Calibri"/>
                <a:cs typeface="Calibri"/>
              </a:rPr>
              <a:t>Still Missing (Model Limitation)</a:t>
            </a:r>
            <a:endParaRPr lang="en-US" sz="1300"/>
          </a:p>
        </p:txBody>
      </p:sp>
      <p:sp>
        <p:nvSpPr>
          <p:cNvPr id="523775015" name="Text 20"/>
          <p:cNvSpPr/>
          <p:nvPr/>
        </p:nvSpPr>
        <p:spPr bwMode="auto">
          <a:xfrm>
            <a:off x="4846320" y="34290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  <a:defRPr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Resolving uncertainties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 'PgBouncer is definitely needed'</a:t>
            </a:r>
            <a:endParaRPr lang="en-US" sz="1100"/>
          </a:p>
          <a:p>
            <a:pPr marL="342900" indent="-342900">
              <a:buSzPct val="100000"/>
              <a:buChar char="•"/>
              <a:defRPr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Policy &amp; implicit reversals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 'Office-first instead of remote'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000" i="1">
                <a:solidFill>
                  <a:srgbClr val="EF4444"/>
                </a:solidFill>
                <a:latin typeface="Calibri"/>
                <a:ea typeface="Calibri"/>
                <a:cs typeface="Calibri"/>
              </a:rPr>
              <a:t>Fix: Use stronger model or chain-of-thought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7156797" name="Text 0"/>
          <p:cNvSpPr/>
          <p:nvPr/>
        </p:nvSpPr>
        <p:spPr bwMode="auto"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1A1B4B"/>
                </a:solidFill>
                <a:latin typeface="Georgia"/>
                <a:ea typeface="Georgia"/>
                <a:cs typeface="Georgia"/>
              </a:rPr>
              <a:t>Benchmark 4: Generation Quality (RAGAS)</a:t>
            </a:r>
            <a:endParaRPr lang="en-US" sz="2800"/>
          </a:p>
        </p:txBody>
      </p:sp>
      <p:sp>
        <p:nvSpPr>
          <p:cNvPr id="1949992754" name="Text 1"/>
          <p:cNvSpPr/>
          <p:nvPr/>
        </p:nvSpPr>
        <p:spPr bwMode="auto">
          <a:xfrm>
            <a:off x="640080" y="822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9 questions evaluated with RAGAS framework metrics. Compares Plain LLM vs Vector RAG vs MemGraph.</a:t>
            </a:r>
            <a:endParaRPr lang="en-US" sz="1300"/>
          </a:p>
        </p:txBody>
      </p:sp>
      <p:graphicFrame>
        <p:nvGraphicFramePr>
          <p:cNvPr id="2139867743" name="Chart 0" descr=""/>
          <p:cNvGraphicFramePr>
            <a:graphicFrameLocks xmlns:a="http://schemas.openxmlformats.org/drawingml/2006/main"/>
          </p:cNvGraphicFramePr>
          <p:nvPr/>
        </p:nvGraphicFramePr>
        <p:xfrm rot="0">
          <a:off x="274320" y="1280160"/>
          <a:ext cx="50292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58561168" name="Shape 2"/>
          <p:cNvSpPr/>
          <p:nvPr/>
        </p:nvSpPr>
        <p:spPr bwMode="auto">
          <a:xfrm>
            <a:off x="5669280" y="1280160"/>
            <a:ext cx="3017519" cy="1097280"/>
          </a:xfrm>
          <a:prstGeom prst="rect">
            <a:avLst/>
          </a:prstGeom>
          <a:solidFill>
            <a:srgbClr val="F1F5F9"/>
          </a:solidFill>
          <a:ln/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</p:sp>
      <p:sp>
        <p:nvSpPr>
          <p:cNvPr id="1539106476" name="Text 3"/>
          <p:cNvSpPr/>
          <p:nvPr/>
        </p:nvSpPr>
        <p:spPr bwMode="auto">
          <a:xfrm>
            <a:off x="5669280" y="1325880"/>
            <a:ext cx="30175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RAGAS Mean Score</a:t>
            </a:r>
            <a:endParaRPr lang="en-US" sz="1200"/>
          </a:p>
        </p:txBody>
      </p:sp>
      <p:sp>
        <p:nvSpPr>
          <p:cNvPr id="1486635220" name="Text 4"/>
          <p:cNvSpPr/>
          <p:nvPr/>
        </p:nvSpPr>
        <p:spPr bwMode="auto">
          <a:xfrm>
            <a:off x="5852160" y="1600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Vector:     </a:t>
            </a:r>
            <a:r>
              <a:rPr lang="en-US" sz="22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0.85</a:t>
            </a:r>
            <a:endParaRPr lang="en-US" sz="1400"/>
          </a:p>
        </p:txBody>
      </p:sp>
      <p:sp>
        <p:nvSpPr>
          <p:cNvPr id="698561670" name="Text 5"/>
          <p:cNvSpPr/>
          <p:nvPr/>
        </p:nvSpPr>
        <p:spPr bwMode="auto">
          <a:xfrm>
            <a:off x="5852160" y="19202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1A1B4B"/>
                </a:solidFill>
                <a:latin typeface="Calibri"/>
                <a:ea typeface="Calibri"/>
                <a:cs typeface="Calibri"/>
              </a:rPr>
              <a:t>MemGraph: </a:t>
            </a:r>
            <a:r>
              <a:rPr lang="en-US" sz="2200" b="1">
                <a:solidFill>
                  <a:srgbClr val="1A1B4B"/>
                </a:solidFill>
                <a:latin typeface="Calibri"/>
                <a:ea typeface="Calibri"/>
                <a:cs typeface="Calibri"/>
              </a:rPr>
              <a:t>0.75</a:t>
            </a:r>
            <a:endParaRPr lang="en-US" sz="1400"/>
          </a:p>
        </p:txBody>
      </p:sp>
      <p:sp>
        <p:nvSpPr>
          <p:cNvPr id="745569432" name="Shape 6"/>
          <p:cNvSpPr/>
          <p:nvPr/>
        </p:nvSpPr>
        <p:spPr bwMode="auto">
          <a:xfrm>
            <a:off x="5669280" y="2606040"/>
            <a:ext cx="3017519" cy="123444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944031768" name="Text 7"/>
          <p:cNvSpPr/>
          <p:nvPr/>
        </p:nvSpPr>
        <p:spPr bwMode="auto">
          <a:xfrm>
            <a:off x="5852160" y="2651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Where MemGraph Wins</a:t>
            </a:r>
            <a:endParaRPr lang="en-US" sz="1200"/>
          </a:p>
        </p:txBody>
      </p:sp>
      <p:sp>
        <p:nvSpPr>
          <p:cNvPr id="581177686" name="Text 8"/>
          <p:cNvSpPr/>
          <p:nvPr/>
        </p:nvSpPr>
        <p:spPr bwMode="auto">
          <a:xfrm>
            <a:off x="5852160" y="29260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Context Recall: 0.83 vs 0.78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Graph edges find dependency chains and uncertainty relationships that vector similarity misses</a:t>
            </a:r>
            <a:endParaRPr lang="en-US" sz="1100"/>
          </a:p>
        </p:txBody>
      </p:sp>
      <p:sp>
        <p:nvSpPr>
          <p:cNvPr id="469897177" name="Shape 9"/>
          <p:cNvSpPr/>
          <p:nvPr/>
        </p:nvSpPr>
        <p:spPr bwMode="auto">
          <a:xfrm>
            <a:off x="640080" y="4114800"/>
            <a:ext cx="8046720" cy="868680"/>
          </a:xfrm>
          <a:prstGeom prst="rect">
            <a:avLst/>
          </a:prstGeom>
          <a:solidFill>
            <a:srgbClr val="F0FDFA"/>
          </a:solidFill>
          <a:ln/>
        </p:spPr>
      </p:sp>
      <p:pic>
        <p:nvPicPr>
          <p:cNvPr id="1039994228" name="Image 0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77240" y="4160519"/>
            <a:ext cx="274320" cy="274320"/>
          </a:xfrm>
          <a:prstGeom prst="rect">
            <a:avLst/>
          </a:prstGeom>
        </p:spPr>
      </p:pic>
      <p:sp>
        <p:nvSpPr>
          <p:cNvPr id="759413954" name="Text 10"/>
          <p:cNvSpPr/>
          <p:nvPr/>
        </p:nvSpPr>
        <p:spPr bwMode="auto">
          <a:xfrm>
            <a:off x="1143000" y="4160519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The Precision-Recall Tradeoff</a:t>
            </a:r>
            <a:endParaRPr lang="en-US" sz="1300"/>
          </a:p>
        </p:txBody>
      </p:sp>
      <p:sp>
        <p:nvSpPr>
          <p:cNvPr id="506449518" name="Text 11"/>
          <p:cNvSpPr/>
          <p:nvPr/>
        </p:nvSpPr>
        <p:spPr bwMode="auto">
          <a:xfrm>
            <a:off x="777240" y="44805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MemGraph retrieves MORE relevant context (higher recall) but the extra context — epistemic state + graph edges — sometimes introduces noise that lowers faithfulness. This is a context filtering optimization, not an architectural flaw.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1A1B4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92960" name="Text 0"/>
          <p:cNvSpPr/>
          <p:nvPr/>
        </p:nvSpPr>
        <p:spPr bwMode="auto"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Results Summary</a:t>
            </a:r>
            <a:endParaRPr lang="en-US" sz="2800"/>
          </a:p>
        </p:txBody>
      </p:sp>
      <p:graphicFrame>
        <p:nvGraphicFramePr>
          <p:cNvPr id="1465365441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640080" y="1005840"/>
          <a:ext cx="7863840" cy="9144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2011680"/>
                <a:gridCol w="2560320"/>
                <a:gridCol w="1645920"/>
                <a:gridCol w="1645920"/>
              </a:tblGrid>
              <a:tr h="36576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</a:rPr>
                        <a:t>Benchmark</a:t>
                      </a:r>
                      <a:endParaRPr lang="en-US" sz="1300"/>
                    </a:p>
                  </a:txBody>
                  <a:tcPr marL="91440" marR="91440" marT="45720" marB="45720">
                    <a:lnL w="6350" algn="ctr">
                      <a:solidFill>
                        <a:srgbClr val="2D3561"/>
                      </a:solidFill>
                    </a:lnL>
                    <a:lnR w="6350" algn="ctr">
                      <a:solidFill>
                        <a:srgbClr val="2D3561"/>
                      </a:solidFill>
                    </a:lnR>
                    <a:lnT w="6350" algn="ctr">
                      <a:solidFill>
                        <a:srgbClr val="2D3561"/>
                      </a:solidFill>
                    </a:lnT>
                    <a:lnB w="6350" algn="ctr">
                      <a:solidFill>
                        <a:srgbClr val="2D3561"/>
                      </a:solidFill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</a:rPr>
                        <a:t>Key Metric</a:t>
                      </a:r>
                      <a:endParaRPr lang="en-US" sz="1300"/>
                    </a:p>
                  </a:txBody>
                  <a:tcPr marL="91440" marR="91440" marT="45720" marB="45720">
                    <a:lnL w="6350" algn="ctr">
                      <a:solidFill>
                        <a:srgbClr val="2D3561"/>
                      </a:solidFill>
                    </a:lnL>
                    <a:lnR w="6350" algn="ctr">
                      <a:solidFill>
                        <a:srgbClr val="2D3561"/>
                      </a:solidFill>
                    </a:lnR>
                    <a:lnT w="6350" algn="ctr">
                      <a:solidFill>
                        <a:srgbClr val="2D3561"/>
                      </a:solidFill>
                    </a:lnT>
                    <a:lnB w="6350" algn="ctr">
                      <a:solidFill>
                        <a:srgbClr val="2D3561"/>
                      </a:solidFill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300"/>
                    </a:p>
                  </a:txBody>
                  <a:tcPr marL="91440" marR="91440" marT="45720" marB="45720">
                    <a:lnL w="6350" algn="ctr">
                      <a:solidFill>
                        <a:srgbClr val="2D3561"/>
                      </a:solidFill>
                    </a:lnL>
                    <a:lnR w="6350" algn="ctr">
                      <a:solidFill>
                        <a:srgbClr val="2D3561"/>
                      </a:solidFill>
                    </a:lnR>
                    <a:lnT w="6350" algn="ctr">
                      <a:solidFill>
                        <a:srgbClr val="2D3561"/>
                      </a:solidFill>
                    </a:lnT>
                    <a:lnB w="6350" algn="ctr">
                      <a:solidFill>
                        <a:srgbClr val="2D3561"/>
                      </a:solidFill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</a:rPr>
                        <a:t>Verdict</a:t>
                      </a:r>
                      <a:endParaRPr lang="en-US" sz="1300"/>
                    </a:p>
                  </a:txBody>
                  <a:tcPr marL="91440" marR="91440" marT="45720" marB="45720">
                    <a:lnL w="6350" algn="ctr">
                      <a:solidFill>
                        <a:srgbClr val="2D3561"/>
                      </a:solidFill>
                    </a:lnL>
                    <a:lnR w="6350" algn="ctr">
                      <a:solidFill>
                        <a:srgbClr val="2D3561"/>
                      </a:solidFill>
                    </a:lnR>
                    <a:lnT w="6350" algn="ctr">
                      <a:solidFill>
                        <a:srgbClr val="2D3561"/>
                      </a:solidFill>
                    </a:lnT>
                    <a:lnB w="6350" algn="ctr">
                      <a:solidFill>
                        <a:srgbClr val="2D3561"/>
                      </a:solidFill>
                    </a:lnB>
                    <a:solidFill>
                      <a:srgbClr val="0D9488"/>
                    </a:solidFill>
                  </a:tcPr>
                </a:tc>
              </a:tr>
              <a:tr h="41148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Extraction</a:t>
                      </a:r>
                      <a:endParaRPr lang="en-US" sz="1200"/>
                    </a:p>
                  </a:txBody>
                  <a:tcPr marL="91440" marR="91440" marT="45720" marB="45720">
                    <a:lnL w="6350" algn="ctr">
                      <a:solidFill>
                        <a:srgbClr val="2D3561"/>
                      </a:solidFill>
                    </a:lnL>
                    <a:lnR w="6350" algn="ctr">
                      <a:solidFill>
                        <a:srgbClr val="2D3561"/>
                      </a:solidFill>
                    </a:lnR>
                    <a:lnT w="6350" algn="ctr">
                      <a:solidFill>
                        <a:srgbClr val="2D3561"/>
                      </a:solidFill>
                    </a:lnT>
                    <a:lnB w="6350" algn="ctr">
                      <a:solidFill>
                        <a:srgbClr val="2D3561"/>
                      </a:solidFill>
                    </a:lnB>
                    <a:solidFill>
                      <a:srgbClr val="2D3561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CADCFC"/>
                          </a:solidFill>
                        </a:rPr>
                        <a:t>Recall / Edge Type Acc.</a:t>
                      </a:r>
                      <a:endParaRPr lang="en-US" sz="1200"/>
                    </a:p>
                  </a:txBody>
                  <a:tcPr marL="91440" marR="91440" marT="45720" marB="45720">
                    <a:lnL w="6350" algn="ctr">
                      <a:solidFill>
                        <a:srgbClr val="2D3561"/>
                      </a:solidFill>
                    </a:lnL>
                    <a:lnR w="6350" algn="ctr">
                      <a:solidFill>
                        <a:srgbClr val="2D3561"/>
                      </a:solidFill>
                    </a:lnR>
                    <a:lnT w="6350" algn="ctr">
                      <a:solidFill>
                        <a:srgbClr val="2D3561"/>
                      </a:solidFill>
                    </a:lnT>
                    <a:lnB w="6350" algn="ctr">
                      <a:solidFill>
                        <a:srgbClr val="2D3561"/>
                      </a:solidFill>
                    </a:lnB>
                    <a:solidFill>
                      <a:srgbClr val="2D356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</a:rPr>
                        <a:t>100% / 87%</a:t>
                      </a:r>
                      <a:endParaRPr lang="en-US" sz="1200"/>
                    </a:p>
                  </a:txBody>
                  <a:tcPr marL="91440" marR="91440" marT="45720" marB="45720">
                    <a:lnL w="6350" algn="ctr">
                      <a:solidFill>
                        <a:srgbClr val="2D3561"/>
                      </a:solidFill>
                    </a:lnL>
                    <a:lnR w="6350" algn="ctr">
                      <a:solidFill>
                        <a:srgbClr val="2D3561"/>
                      </a:solidFill>
                    </a:lnR>
                    <a:lnT w="6350" algn="ctr">
                      <a:solidFill>
                        <a:srgbClr val="2D3561"/>
                      </a:solidFill>
                    </a:lnT>
                    <a:lnB w="6350" algn="ctr">
                      <a:solidFill>
                        <a:srgbClr val="2D3561"/>
                      </a:solidFill>
                    </a:lnB>
                    <a:solidFill>
                      <a:srgbClr val="2D356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 b="1">
                          <a:solidFill>
                            <a:srgbClr val="5EEAD4"/>
                          </a:solidFill>
                        </a:rPr>
                        <a:t>PASS</a:t>
                      </a:r>
                      <a:endParaRPr lang="en-US" sz="1300"/>
                    </a:p>
                  </a:txBody>
                  <a:tcPr marL="91440" marR="91440" marT="45720" marB="45720">
                    <a:lnL w="6350" algn="ctr">
                      <a:solidFill>
                        <a:srgbClr val="2D3561"/>
                      </a:solidFill>
                    </a:lnL>
                    <a:lnR w="6350" algn="ctr">
                      <a:solidFill>
                        <a:srgbClr val="2D3561"/>
                      </a:solidFill>
                    </a:lnR>
                    <a:lnT w="6350" algn="ctr">
                      <a:solidFill>
                        <a:srgbClr val="2D3561"/>
                      </a:solidFill>
                    </a:lnT>
                    <a:lnB w="6350" algn="ctr">
                      <a:solidFill>
                        <a:srgbClr val="2D3561"/>
                      </a:solidFill>
                    </a:lnB>
                    <a:solidFill>
                      <a:srgbClr val="2D3561"/>
                    </a:solidFill>
                  </a:tcPr>
                </a:tc>
              </a:tr>
              <a:tr h="41148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Retrieval</a:t>
                      </a:r>
                      <a:endParaRPr lang="en-US" sz="1200"/>
                    </a:p>
                  </a:txBody>
                  <a:tcPr marL="91440" marR="91440" marT="45720" marB="45720">
                    <a:lnL w="6350" algn="ctr">
                      <a:solidFill>
                        <a:srgbClr val="2D3561"/>
                      </a:solidFill>
                    </a:lnL>
                    <a:lnR w="6350" algn="ctr">
                      <a:solidFill>
                        <a:srgbClr val="2D3561"/>
                      </a:solidFill>
                    </a:lnR>
                    <a:lnT w="6350" algn="ctr">
                      <a:solidFill>
                        <a:srgbClr val="2D3561"/>
                      </a:solidFill>
                    </a:lnT>
                    <a:lnB w="6350" algn="ctr">
                      <a:solidFill>
                        <a:srgbClr val="2D3561"/>
                      </a:solidFill>
                    </a:lnB>
                    <a:solidFill>
                      <a:srgbClr val="2D3561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CADCFC"/>
                          </a:solidFill>
                        </a:rPr>
                        <a:t>Hybrid win rate / P@3</a:t>
                      </a:r>
                      <a:endParaRPr lang="en-US" sz="1200"/>
                    </a:p>
                  </a:txBody>
                  <a:tcPr marL="91440" marR="91440" marT="45720" marB="45720">
                    <a:lnL w="6350" algn="ctr">
                      <a:solidFill>
                        <a:srgbClr val="2D3561"/>
                      </a:solidFill>
                    </a:lnL>
                    <a:lnR w="6350" algn="ctr">
                      <a:solidFill>
                        <a:srgbClr val="2D3561"/>
                      </a:solidFill>
                    </a:lnR>
                    <a:lnT w="6350" algn="ctr">
                      <a:solidFill>
                        <a:srgbClr val="2D3561"/>
                      </a:solidFill>
                    </a:lnT>
                    <a:lnB w="6350" algn="ctr">
                      <a:solidFill>
                        <a:srgbClr val="2D3561"/>
                      </a:solidFill>
                    </a:lnB>
                    <a:solidFill>
                      <a:srgbClr val="2D356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</a:rPr>
                        <a:t>17/20 / 0.40</a:t>
                      </a:r>
                      <a:endParaRPr lang="en-US" sz="1200"/>
                    </a:p>
                  </a:txBody>
                  <a:tcPr marL="91440" marR="91440" marT="45720" marB="45720">
                    <a:lnL w="6350" algn="ctr">
                      <a:solidFill>
                        <a:srgbClr val="2D3561"/>
                      </a:solidFill>
                    </a:lnL>
                    <a:lnR w="6350" algn="ctr">
                      <a:solidFill>
                        <a:srgbClr val="2D3561"/>
                      </a:solidFill>
                    </a:lnR>
                    <a:lnT w="6350" algn="ctr">
                      <a:solidFill>
                        <a:srgbClr val="2D3561"/>
                      </a:solidFill>
                    </a:lnT>
                    <a:lnB w="6350" algn="ctr">
                      <a:solidFill>
                        <a:srgbClr val="2D3561"/>
                      </a:solidFill>
                    </a:lnB>
                    <a:solidFill>
                      <a:srgbClr val="2D356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 b="1">
                          <a:solidFill>
                            <a:srgbClr val="5EEAD4"/>
                          </a:solidFill>
                        </a:rPr>
                        <a:t>PASS</a:t>
                      </a:r>
                      <a:endParaRPr lang="en-US" sz="1300"/>
                    </a:p>
                  </a:txBody>
                  <a:tcPr marL="91440" marR="91440" marT="45720" marB="45720">
                    <a:lnL w="6350" algn="ctr">
                      <a:solidFill>
                        <a:srgbClr val="2D3561"/>
                      </a:solidFill>
                    </a:lnL>
                    <a:lnR w="6350" algn="ctr">
                      <a:solidFill>
                        <a:srgbClr val="2D3561"/>
                      </a:solidFill>
                    </a:lnR>
                    <a:lnT w="6350" algn="ctr">
                      <a:solidFill>
                        <a:srgbClr val="2D3561"/>
                      </a:solidFill>
                    </a:lnT>
                    <a:lnB w="6350" algn="ctr">
                      <a:solidFill>
                        <a:srgbClr val="2D3561"/>
                      </a:solidFill>
                    </a:lnB>
                    <a:solidFill>
                      <a:srgbClr val="2D3561"/>
                    </a:solidFill>
                  </a:tcPr>
                </a:tc>
              </a:tr>
              <a:tr h="41148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Contradiction</a:t>
                      </a:r>
                      <a:endParaRPr lang="en-US" sz="1200"/>
                    </a:p>
                  </a:txBody>
                  <a:tcPr marL="91440" marR="91440" marT="45720" marB="45720">
                    <a:lnL w="6350" algn="ctr">
                      <a:solidFill>
                        <a:srgbClr val="2D3561"/>
                      </a:solidFill>
                    </a:lnL>
                    <a:lnR w="6350" algn="ctr">
                      <a:solidFill>
                        <a:srgbClr val="2D3561"/>
                      </a:solidFill>
                    </a:lnR>
                    <a:lnT w="6350" algn="ctr">
                      <a:solidFill>
                        <a:srgbClr val="2D3561"/>
                      </a:solidFill>
                    </a:lnT>
                    <a:lnB w="6350" algn="ctr">
                      <a:solidFill>
                        <a:srgbClr val="2D3561"/>
                      </a:solidFill>
                    </a:lnB>
                    <a:solidFill>
                      <a:srgbClr val="2D3561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CADCFC"/>
                          </a:solidFill>
                        </a:rPr>
                        <a:t>F1 Score</a:t>
                      </a:r>
                      <a:endParaRPr lang="en-US" sz="1200"/>
                    </a:p>
                  </a:txBody>
                  <a:tcPr marL="91440" marR="91440" marT="45720" marB="45720">
                    <a:lnL w="6350" algn="ctr">
                      <a:solidFill>
                        <a:srgbClr val="2D3561"/>
                      </a:solidFill>
                    </a:lnL>
                    <a:lnR w="6350" algn="ctr">
                      <a:solidFill>
                        <a:srgbClr val="2D3561"/>
                      </a:solidFill>
                    </a:lnR>
                    <a:lnT w="6350" algn="ctr">
                      <a:solidFill>
                        <a:srgbClr val="2D3561"/>
                      </a:solidFill>
                    </a:lnT>
                    <a:lnB w="6350" algn="ctr">
                      <a:solidFill>
                        <a:srgbClr val="2D3561"/>
                      </a:solidFill>
                    </a:lnB>
                    <a:solidFill>
                      <a:srgbClr val="2D356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</a:rPr>
                        <a:t>44.4% (was 36%)</a:t>
                      </a:r>
                      <a:endParaRPr lang="en-US" sz="1200"/>
                    </a:p>
                  </a:txBody>
                  <a:tcPr marL="91440" marR="91440" marT="45720" marB="45720">
                    <a:lnL w="6350" algn="ctr">
                      <a:solidFill>
                        <a:srgbClr val="2D3561"/>
                      </a:solidFill>
                    </a:lnL>
                    <a:lnR w="6350" algn="ctr">
                      <a:solidFill>
                        <a:srgbClr val="2D3561"/>
                      </a:solidFill>
                    </a:lnR>
                    <a:lnT w="6350" algn="ctr">
                      <a:solidFill>
                        <a:srgbClr val="2D3561"/>
                      </a:solidFill>
                    </a:lnT>
                    <a:lnB w="6350" algn="ctr">
                      <a:solidFill>
                        <a:srgbClr val="2D3561"/>
                      </a:solidFill>
                    </a:lnB>
                    <a:solidFill>
                      <a:srgbClr val="2D356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 b="1">
                          <a:solidFill>
                            <a:srgbClr val="F59E0B"/>
                          </a:solidFill>
                        </a:rPr>
                        <a:t>IMPROVED</a:t>
                      </a:r>
                      <a:endParaRPr lang="en-US" sz="1300"/>
                    </a:p>
                  </a:txBody>
                  <a:tcPr marL="91440" marR="91440" marT="45720" marB="45720">
                    <a:lnL w="6350" algn="ctr">
                      <a:solidFill>
                        <a:srgbClr val="2D3561"/>
                      </a:solidFill>
                    </a:lnL>
                    <a:lnR w="6350" algn="ctr">
                      <a:solidFill>
                        <a:srgbClr val="2D3561"/>
                      </a:solidFill>
                    </a:lnR>
                    <a:lnT w="6350" algn="ctr">
                      <a:solidFill>
                        <a:srgbClr val="2D3561"/>
                      </a:solidFill>
                    </a:lnT>
                    <a:lnB w="6350" algn="ctr">
                      <a:solidFill>
                        <a:srgbClr val="2D3561"/>
                      </a:solidFill>
                    </a:lnB>
                    <a:solidFill>
                      <a:srgbClr val="2D3561"/>
                    </a:solidFill>
                  </a:tcPr>
                </a:tc>
              </a:tr>
              <a:tr h="411480"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Generation (RAGAS)</a:t>
                      </a:r>
                      <a:endParaRPr lang="en-US" sz="1200"/>
                    </a:p>
                  </a:txBody>
                  <a:tcPr marL="91440" marR="91440" marT="45720" marB="45720">
                    <a:lnL w="6350" algn="ctr">
                      <a:solidFill>
                        <a:srgbClr val="2D3561"/>
                      </a:solidFill>
                    </a:lnL>
                    <a:lnR w="6350" algn="ctr">
                      <a:solidFill>
                        <a:srgbClr val="2D3561"/>
                      </a:solidFill>
                    </a:lnR>
                    <a:lnT w="6350" algn="ctr">
                      <a:solidFill>
                        <a:srgbClr val="2D3561"/>
                      </a:solidFill>
                    </a:lnT>
                    <a:lnB w="6350" algn="ctr">
                      <a:solidFill>
                        <a:srgbClr val="2D3561"/>
                      </a:solidFill>
                    </a:lnB>
                    <a:solidFill>
                      <a:srgbClr val="2D3561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CADCFC"/>
                          </a:solidFill>
                        </a:rPr>
                        <a:t>Context Recall (MG vs V)</a:t>
                      </a:r>
                      <a:endParaRPr lang="en-US" sz="1200"/>
                    </a:p>
                  </a:txBody>
                  <a:tcPr marL="91440" marR="91440" marT="45720" marB="45720">
                    <a:lnL w="6350" algn="ctr">
                      <a:solidFill>
                        <a:srgbClr val="2D3561"/>
                      </a:solidFill>
                    </a:lnL>
                    <a:lnR w="6350" algn="ctr">
                      <a:solidFill>
                        <a:srgbClr val="2D3561"/>
                      </a:solidFill>
                    </a:lnR>
                    <a:lnT w="6350" algn="ctr">
                      <a:solidFill>
                        <a:srgbClr val="2D3561"/>
                      </a:solidFill>
                    </a:lnT>
                    <a:lnB w="6350" algn="ctr">
                      <a:solidFill>
                        <a:srgbClr val="2D3561"/>
                      </a:solidFill>
                    </a:lnB>
                    <a:solidFill>
                      <a:srgbClr val="2D356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200">
                          <a:solidFill>
                            <a:srgbClr val="FFFFFF"/>
                          </a:solidFill>
                        </a:rPr>
                        <a:t>0.83 vs 0.78</a:t>
                      </a:r>
                      <a:endParaRPr lang="en-US" sz="1200"/>
                    </a:p>
                  </a:txBody>
                  <a:tcPr marL="91440" marR="91440" marT="45720" marB="45720">
                    <a:lnL w="6350" algn="ctr">
                      <a:solidFill>
                        <a:srgbClr val="2D3561"/>
                      </a:solidFill>
                    </a:lnL>
                    <a:lnR w="6350" algn="ctr">
                      <a:solidFill>
                        <a:srgbClr val="2D3561"/>
                      </a:solidFill>
                    </a:lnR>
                    <a:lnT w="6350" algn="ctr">
                      <a:solidFill>
                        <a:srgbClr val="2D3561"/>
                      </a:solidFill>
                    </a:lnT>
                    <a:lnB w="6350" algn="ctr">
                      <a:solidFill>
                        <a:srgbClr val="2D3561"/>
                      </a:solidFill>
                    </a:lnB>
                    <a:solidFill>
                      <a:srgbClr val="2D3561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1300" b="1">
                          <a:solidFill>
                            <a:srgbClr val="F59E0B"/>
                          </a:solidFill>
                        </a:rPr>
                        <a:t>MIXED</a:t>
                      </a:r>
                      <a:endParaRPr lang="en-US" sz="1300"/>
                    </a:p>
                  </a:txBody>
                  <a:tcPr marL="91440" marR="91440" marT="45720" marB="45720">
                    <a:lnL w="6350" algn="ctr">
                      <a:solidFill>
                        <a:srgbClr val="2D3561"/>
                      </a:solidFill>
                    </a:lnL>
                    <a:lnR w="6350" algn="ctr">
                      <a:solidFill>
                        <a:srgbClr val="2D3561"/>
                      </a:solidFill>
                    </a:lnR>
                    <a:lnT w="6350" algn="ctr">
                      <a:solidFill>
                        <a:srgbClr val="2D3561"/>
                      </a:solidFill>
                    </a:lnT>
                    <a:lnB w="6350" algn="ctr">
                      <a:solidFill>
                        <a:srgbClr val="2D3561"/>
                      </a:solidFill>
                    </a:lnB>
                    <a:solidFill>
                      <a:srgbClr val="2D3561"/>
                    </a:solidFill>
                  </a:tcPr>
                </a:tc>
              </a:tr>
            </a:tbl>
          </a:graphicData>
        </a:graphic>
      </p:graphicFrame>
      <p:sp>
        <p:nvSpPr>
          <p:cNvPr id="201533771" name="Shape 1"/>
          <p:cNvSpPr/>
          <p:nvPr/>
        </p:nvSpPr>
        <p:spPr bwMode="auto">
          <a:xfrm>
            <a:off x="640080" y="3383280"/>
            <a:ext cx="3840480" cy="1554480"/>
          </a:xfrm>
          <a:prstGeom prst="rect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625608258" name="Text 2"/>
          <p:cNvSpPr/>
          <p:nvPr/>
        </p:nvSpPr>
        <p:spPr bwMode="auto">
          <a:xfrm>
            <a:off x="822960" y="3474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Hypothesis: VALIDATED</a:t>
            </a:r>
            <a:endParaRPr lang="en-US" sz="1500"/>
          </a:p>
        </p:txBody>
      </p:sp>
      <p:sp>
        <p:nvSpPr>
          <p:cNvPr id="158692737" name="Text 3"/>
          <p:cNvSpPr/>
          <p:nvPr/>
        </p:nvSpPr>
        <p:spPr bwMode="auto">
          <a:xfrm>
            <a:off x="822960" y="37947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  <a:defRPr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Hybrid retrieval wins 17/20 queries</a:t>
            </a:r>
            <a:endParaRPr lang="en-US" sz="1100"/>
          </a:p>
          <a:p>
            <a:pPr marL="342900" indent="-342900">
              <a:buSzPct val="100000"/>
              <a:buChar char="•"/>
              <a:defRPr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26% improvement over vector-only (P@3)</a:t>
            </a:r>
            <a:endParaRPr lang="en-US" sz="1100"/>
          </a:p>
          <a:p>
            <a:pPr marL="342900" indent="-342900">
              <a:buSzPct val="100000"/>
              <a:buChar char="•"/>
              <a:defRPr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Higher context recall in RAGAS (0.83 vs 0.78)</a:t>
            </a:r>
            <a:endParaRPr lang="en-US" sz="1100"/>
          </a:p>
          <a:p>
            <a:pPr marL="342900" indent="-342900">
              <a:buSzPct val="100000"/>
              <a:buChar char="•"/>
              <a:defRPr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Graph uniquely excels at structural queries</a:t>
            </a:r>
            <a:endParaRPr lang="en-US" sz="1100"/>
          </a:p>
        </p:txBody>
      </p:sp>
      <p:sp>
        <p:nvSpPr>
          <p:cNvPr id="608042952" name="Shape 4"/>
          <p:cNvSpPr/>
          <p:nvPr/>
        </p:nvSpPr>
        <p:spPr bwMode="auto">
          <a:xfrm>
            <a:off x="4663440" y="3383280"/>
            <a:ext cx="4023360" cy="1554480"/>
          </a:xfrm>
          <a:prstGeom prst="rect">
            <a:avLst/>
          </a:prstGeom>
          <a:solidFill>
            <a:srgbClr val="EF4444">
              <a:alpha val="20000"/>
            </a:srgbClr>
          </a:solidFill>
          <a:ln/>
        </p:spPr>
      </p:sp>
      <p:sp>
        <p:nvSpPr>
          <p:cNvPr id="11584772" name="Text 5"/>
          <p:cNvSpPr/>
          <p:nvPr/>
        </p:nvSpPr>
        <p:spPr bwMode="auto">
          <a:xfrm>
            <a:off x="4846320" y="3474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EF4444"/>
                </a:solidFill>
                <a:latin typeface="Calibri"/>
                <a:ea typeface="Calibri"/>
                <a:cs typeface="Calibri"/>
              </a:rPr>
              <a:t>Areas to Improve</a:t>
            </a:r>
            <a:endParaRPr lang="en-US" sz="1500"/>
          </a:p>
        </p:txBody>
      </p:sp>
      <p:sp>
        <p:nvSpPr>
          <p:cNvPr id="186463022" name="Text 6"/>
          <p:cNvSpPr/>
          <p:nvPr/>
        </p:nvSpPr>
        <p:spPr bwMode="auto">
          <a:xfrm>
            <a:off x="4846320" y="37947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  <a:defRPr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Contradiction: 100% precision but 29% recall (model limit)</a:t>
            </a:r>
            <a:endParaRPr lang="en-US" sz="1100"/>
          </a:p>
          <a:p>
            <a:pPr marL="342900" indent="-342900">
              <a:buSzPct val="100000"/>
              <a:buChar char="•"/>
              <a:defRPr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Extra context can reduce faithfulness</a:t>
            </a:r>
            <a:endParaRPr lang="en-US" sz="1100"/>
          </a:p>
          <a:p>
            <a:pPr marL="342900" indent="-342900">
              <a:buSzPct val="100000"/>
              <a:buChar char="•"/>
              <a:defRPr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Context precision lower for MemGraph (0.60 vs 0.78)</a:t>
            </a:r>
            <a:endParaRPr lang="en-US" sz="1100"/>
          </a:p>
          <a:p>
            <a:pPr marL="342900" indent="-342900">
              <a:buSzPct val="100000"/>
              <a:buChar char="•"/>
              <a:defRPr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Need context filtering before prompt injection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ONLYOFFICE/9.2.0.100</Application>
  <PresentationFormat>On-screen Show (4:3)</PresentationFormat>
  <Paragraphs>0</Paragraphs>
  <Slides>7</Slides>
  <Notes>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MemGraph Benchmark Report</dc:title>
  <dc:subject>PptxGenJS Presentation</dc:subject>
  <dc:creator>Atishay</dc:creator>
  <cp:lastModifiedBy/>
  <cp:revision>2</cp:revision>
  <dcterms:created xsi:type="dcterms:W3CDTF">2026-06-08T12:05:30Z</dcterms:created>
  <dcterms:modified xsi:type="dcterms:W3CDTF">2026-06-08T12:19:47Z</dcterms:modified>
</cp:coreProperties>
</file>